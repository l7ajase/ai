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DM Sans" pitchFamily="2" charset="0"/>
      <p:regular r:id="rId13"/>
      <p:bold r:id="rId14"/>
      <p:italic r:id="rId15"/>
    </p:embeddedFont>
    <p:embeddedFont>
      <p:font typeface="Space Grotesk Medium" panose="020B0604020202020204" charset="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3" d="100"/>
          <a:sy n="93" d="100"/>
        </p:scale>
        <p:origin x="52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asser belhati" userId="40ad36c926b9f19a" providerId="LiveId" clId="{1CE9D3E1-6070-498E-85DB-85F648AD78E5}"/>
    <pc:docChg chg="undo custSel modSld">
      <pc:chgData name="yasser belhati" userId="40ad36c926b9f19a" providerId="LiveId" clId="{1CE9D3E1-6070-498E-85DB-85F648AD78E5}" dt="2026-03-14T05:07:07.683" v="191" actId="1076"/>
      <pc:docMkLst>
        <pc:docMk/>
      </pc:docMkLst>
      <pc:sldChg chg="addSp delSp modSp mod">
        <pc:chgData name="yasser belhati" userId="40ad36c926b9f19a" providerId="LiveId" clId="{1CE9D3E1-6070-498E-85DB-85F648AD78E5}" dt="2026-03-14T03:11:10.997" v="63" actId="1076"/>
        <pc:sldMkLst>
          <pc:docMk/>
          <pc:sldMk cId="0" sldId="256"/>
        </pc:sldMkLst>
        <pc:spChg chg="mod">
          <ac:chgData name="yasser belhati" userId="40ad36c926b9f19a" providerId="LiveId" clId="{1CE9D3E1-6070-498E-85DB-85F648AD78E5}" dt="2026-03-14T03:09:53.016" v="60" actId="1076"/>
          <ac:spMkLst>
            <pc:docMk/>
            <pc:sldMk cId="0" sldId="256"/>
            <ac:spMk id="3" creationId="{00000000-0000-0000-0000-000000000000}"/>
          </ac:spMkLst>
        </pc:spChg>
        <pc:spChg chg="add del">
          <ac:chgData name="yasser belhati" userId="40ad36c926b9f19a" providerId="LiveId" clId="{1CE9D3E1-6070-498E-85DB-85F648AD78E5}" dt="2026-03-14T02:58:10.076" v="1" actId="11529"/>
          <ac:spMkLst>
            <pc:docMk/>
            <pc:sldMk cId="0" sldId="256"/>
            <ac:spMk id="11" creationId="{76A84B94-24BB-01C1-DCB9-CAF7BFD569FE}"/>
          </ac:spMkLst>
        </pc:spChg>
        <pc:picChg chg="del">
          <ac:chgData name="yasser belhati" userId="40ad36c926b9f19a" providerId="LiveId" clId="{1CE9D3E1-6070-498E-85DB-85F648AD78E5}" dt="2026-03-14T03:07:31.825" v="53" actId="21"/>
          <ac:picMkLst>
            <pc:docMk/>
            <pc:sldMk cId="0" sldId="256"/>
            <ac:picMk id="2" creationId="{00000000-0000-0000-0000-000000000000}"/>
          </ac:picMkLst>
        </pc:picChg>
        <pc:picChg chg="add mod">
          <ac:chgData name="yasser belhati" userId="40ad36c926b9f19a" providerId="LiveId" clId="{1CE9D3E1-6070-498E-85DB-85F648AD78E5}" dt="2026-03-14T02:59:17.209" v="6" actId="1076"/>
          <ac:picMkLst>
            <pc:docMk/>
            <pc:sldMk cId="0" sldId="256"/>
            <ac:picMk id="1026" creationId="{DD6C49DF-D76A-B738-4710-DC9B9F3A2C2A}"/>
          </ac:picMkLst>
        </pc:picChg>
        <pc:picChg chg="add mod">
          <ac:chgData name="yasser belhati" userId="40ad36c926b9f19a" providerId="LiveId" clId="{1CE9D3E1-6070-498E-85DB-85F648AD78E5}" dt="2026-03-14T03:09:53.016" v="60" actId="1076"/>
          <ac:picMkLst>
            <pc:docMk/>
            <pc:sldMk cId="0" sldId="256"/>
            <ac:picMk id="1028" creationId="{772968AD-1156-1DD6-F511-46D3D64D91C2}"/>
          </ac:picMkLst>
        </pc:picChg>
        <pc:picChg chg="add mod">
          <ac:chgData name="yasser belhati" userId="40ad36c926b9f19a" providerId="LiveId" clId="{1CE9D3E1-6070-498E-85DB-85F648AD78E5}" dt="2026-03-14T03:11:10.997" v="63" actId="1076"/>
          <ac:picMkLst>
            <pc:docMk/>
            <pc:sldMk cId="0" sldId="256"/>
            <ac:picMk id="1030" creationId="{EC827946-5784-8783-0C89-CD3D770FF1DE}"/>
          </ac:picMkLst>
        </pc:picChg>
      </pc:sldChg>
      <pc:sldChg chg="addSp delSp modSp mod">
        <pc:chgData name="yasser belhati" userId="40ad36c926b9f19a" providerId="LiveId" clId="{1CE9D3E1-6070-498E-85DB-85F648AD78E5}" dt="2026-03-14T03:20:03.179" v="68" actId="1076"/>
        <pc:sldMkLst>
          <pc:docMk/>
          <pc:sldMk cId="0" sldId="257"/>
        </pc:sldMkLst>
        <pc:picChg chg="del">
          <ac:chgData name="yasser belhati" userId="40ad36c926b9f19a" providerId="LiveId" clId="{1CE9D3E1-6070-498E-85DB-85F648AD78E5}" dt="2026-03-14T03:12:32.312" v="64" actId="21"/>
          <ac:picMkLst>
            <pc:docMk/>
            <pc:sldMk cId="0" sldId="257"/>
            <ac:picMk id="2" creationId="{00000000-0000-0000-0000-000000000000}"/>
          </ac:picMkLst>
        </pc:picChg>
        <pc:picChg chg="add mod">
          <ac:chgData name="yasser belhati" userId="40ad36c926b9f19a" providerId="LiveId" clId="{1CE9D3E1-6070-498E-85DB-85F648AD78E5}" dt="2026-03-14T03:20:03.179" v="68" actId="1076"/>
          <ac:picMkLst>
            <pc:docMk/>
            <pc:sldMk cId="0" sldId="257"/>
            <ac:picMk id="10242" creationId="{D3F2BD98-3066-97A2-A45E-7EFE1EF08416}"/>
          </ac:picMkLst>
        </pc:picChg>
      </pc:sldChg>
      <pc:sldChg chg="addSp delSp modSp mod">
        <pc:chgData name="yasser belhati" userId="40ad36c926b9f19a" providerId="LiveId" clId="{1CE9D3E1-6070-498E-85DB-85F648AD78E5}" dt="2026-03-14T03:22:27.516" v="86" actId="1076"/>
        <pc:sldMkLst>
          <pc:docMk/>
          <pc:sldMk cId="0" sldId="258"/>
        </pc:sldMkLst>
        <pc:spChg chg="mod">
          <ac:chgData name="yasser belhati" userId="40ad36c926b9f19a" providerId="LiveId" clId="{1CE9D3E1-6070-498E-85DB-85F648AD78E5}" dt="2026-03-14T03:20:24.367" v="71" actId="1076"/>
          <ac:spMkLst>
            <pc:docMk/>
            <pc:sldMk cId="0" sldId="258"/>
            <ac:spMk id="3" creationId="{00000000-0000-0000-0000-000000000000}"/>
          </ac:spMkLst>
        </pc:spChg>
        <pc:spChg chg="mod">
          <ac:chgData name="yasser belhati" userId="40ad36c926b9f19a" providerId="LiveId" clId="{1CE9D3E1-6070-498E-85DB-85F648AD78E5}" dt="2026-03-14T03:20:17.287" v="70" actId="1076"/>
          <ac:spMkLst>
            <pc:docMk/>
            <pc:sldMk cId="0" sldId="258"/>
            <ac:spMk id="4" creationId="{00000000-0000-0000-0000-000000000000}"/>
          </ac:spMkLst>
        </pc:spChg>
        <pc:spChg chg="mod">
          <ac:chgData name="yasser belhati" userId="40ad36c926b9f19a" providerId="LiveId" clId="{1CE9D3E1-6070-498E-85DB-85F648AD78E5}" dt="2026-03-14T03:20:30.427" v="72" actId="1076"/>
          <ac:spMkLst>
            <pc:docMk/>
            <pc:sldMk cId="0" sldId="258"/>
            <ac:spMk id="5" creationId="{00000000-0000-0000-0000-000000000000}"/>
          </ac:spMkLst>
        </pc:spChg>
        <pc:spChg chg="mod">
          <ac:chgData name="yasser belhati" userId="40ad36c926b9f19a" providerId="LiveId" clId="{1CE9D3E1-6070-498E-85DB-85F648AD78E5}" dt="2026-03-14T03:20:37.901" v="73" actId="1076"/>
          <ac:spMkLst>
            <pc:docMk/>
            <pc:sldMk cId="0" sldId="258"/>
            <ac:spMk id="6" creationId="{00000000-0000-0000-0000-000000000000}"/>
          </ac:spMkLst>
        </pc:spChg>
        <pc:spChg chg="mod">
          <ac:chgData name="yasser belhati" userId="40ad36c926b9f19a" providerId="LiveId" clId="{1CE9D3E1-6070-498E-85DB-85F648AD78E5}" dt="2026-03-14T03:20:51.361" v="75" actId="1076"/>
          <ac:spMkLst>
            <pc:docMk/>
            <pc:sldMk cId="0" sldId="258"/>
            <ac:spMk id="7" creationId="{00000000-0000-0000-0000-000000000000}"/>
          </ac:spMkLst>
        </pc:spChg>
        <pc:spChg chg="mod">
          <ac:chgData name="yasser belhati" userId="40ad36c926b9f19a" providerId="LiveId" clId="{1CE9D3E1-6070-498E-85DB-85F648AD78E5}" dt="2026-03-14T03:21:03.496" v="76" actId="1076"/>
          <ac:spMkLst>
            <pc:docMk/>
            <pc:sldMk cId="0" sldId="258"/>
            <ac:spMk id="8" creationId="{00000000-0000-0000-0000-000000000000}"/>
          </ac:spMkLst>
        </pc:spChg>
        <pc:spChg chg="mod">
          <ac:chgData name="yasser belhati" userId="40ad36c926b9f19a" providerId="LiveId" clId="{1CE9D3E1-6070-498E-85DB-85F648AD78E5}" dt="2026-03-14T03:21:09.665" v="77" actId="1076"/>
          <ac:spMkLst>
            <pc:docMk/>
            <pc:sldMk cId="0" sldId="258"/>
            <ac:spMk id="9" creationId="{00000000-0000-0000-0000-000000000000}"/>
          </ac:spMkLst>
        </pc:spChg>
        <pc:spChg chg="mod">
          <ac:chgData name="yasser belhati" userId="40ad36c926b9f19a" providerId="LiveId" clId="{1CE9D3E1-6070-498E-85DB-85F648AD78E5}" dt="2026-03-14T03:21:28.639" v="78" actId="1076"/>
          <ac:spMkLst>
            <pc:docMk/>
            <pc:sldMk cId="0" sldId="258"/>
            <ac:spMk id="10" creationId="{00000000-0000-0000-0000-000000000000}"/>
          </ac:spMkLst>
        </pc:spChg>
        <pc:spChg chg="mod">
          <ac:chgData name="yasser belhati" userId="40ad36c926b9f19a" providerId="LiveId" clId="{1CE9D3E1-6070-498E-85DB-85F648AD78E5}" dt="2026-03-14T03:21:40.759" v="80" actId="1076"/>
          <ac:spMkLst>
            <pc:docMk/>
            <pc:sldMk cId="0" sldId="258"/>
            <ac:spMk id="11" creationId="{00000000-0000-0000-0000-000000000000}"/>
          </ac:spMkLst>
        </pc:spChg>
        <pc:spChg chg="mod">
          <ac:chgData name="yasser belhati" userId="40ad36c926b9f19a" providerId="LiveId" clId="{1CE9D3E1-6070-498E-85DB-85F648AD78E5}" dt="2026-03-14T03:21:53.179" v="81" actId="1076"/>
          <ac:spMkLst>
            <pc:docMk/>
            <pc:sldMk cId="0" sldId="258"/>
            <ac:spMk id="12" creationId="{00000000-0000-0000-0000-000000000000}"/>
          </ac:spMkLst>
        </pc:spChg>
        <pc:spChg chg="mod">
          <ac:chgData name="yasser belhati" userId="40ad36c926b9f19a" providerId="LiveId" clId="{1CE9D3E1-6070-498E-85DB-85F648AD78E5}" dt="2026-03-14T03:21:59.746" v="82" actId="1076"/>
          <ac:spMkLst>
            <pc:docMk/>
            <pc:sldMk cId="0" sldId="258"/>
            <ac:spMk id="13" creationId="{00000000-0000-0000-0000-000000000000}"/>
          </ac:spMkLst>
        </pc:spChg>
        <pc:spChg chg="mod">
          <ac:chgData name="yasser belhati" userId="40ad36c926b9f19a" providerId="LiveId" clId="{1CE9D3E1-6070-498E-85DB-85F648AD78E5}" dt="2026-03-14T03:22:09.658" v="83" actId="1076"/>
          <ac:spMkLst>
            <pc:docMk/>
            <pc:sldMk cId="0" sldId="258"/>
            <ac:spMk id="18" creationId="{00000000-0000-0000-0000-000000000000}"/>
          </ac:spMkLst>
        </pc:spChg>
        <pc:spChg chg="mod">
          <ac:chgData name="yasser belhati" userId="40ad36c926b9f19a" providerId="LiveId" clId="{1CE9D3E1-6070-498E-85DB-85F648AD78E5}" dt="2026-03-14T03:22:15.074" v="84" actId="1076"/>
          <ac:spMkLst>
            <pc:docMk/>
            <pc:sldMk cId="0" sldId="258"/>
            <ac:spMk id="19" creationId="{00000000-0000-0000-0000-000000000000}"/>
          </ac:spMkLst>
        </pc:spChg>
        <pc:spChg chg="mod">
          <ac:chgData name="yasser belhati" userId="40ad36c926b9f19a" providerId="LiveId" clId="{1CE9D3E1-6070-498E-85DB-85F648AD78E5}" dt="2026-03-14T03:22:22.217" v="85" actId="1076"/>
          <ac:spMkLst>
            <pc:docMk/>
            <pc:sldMk cId="0" sldId="258"/>
            <ac:spMk id="20" creationId="{00000000-0000-0000-0000-000000000000}"/>
          </ac:spMkLst>
        </pc:spChg>
        <pc:spChg chg="mod">
          <ac:chgData name="yasser belhati" userId="40ad36c926b9f19a" providerId="LiveId" clId="{1CE9D3E1-6070-498E-85DB-85F648AD78E5}" dt="2026-03-14T03:22:27.516" v="86" actId="1076"/>
          <ac:spMkLst>
            <pc:docMk/>
            <pc:sldMk cId="0" sldId="258"/>
            <ac:spMk id="21" creationId="{00000000-0000-0000-0000-000000000000}"/>
          </ac:spMkLst>
        </pc:spChg>
        <pc:picChg chg="del">
          <ac:chgData name="yasser belhati" userId="40ad36c926b9f19a" providerId="LiveId" clId="{1CE9D3E1-6070-498E-85DB-85F648AD78E5}" dt="2026-03-14T03:20:11.706" v="69" actId="21"/>
          <ac:picMkLst>
            <pc:docMk/>
            <pc:sldMk cId="0" sldId="258"/>
            <ac:picMk id="2" creationId="{00000000-0000-0000-0000-000000000000}"/>
          </ac:picMkLst>
        </pc:picChg>
        <pc:picChg chg="add mod">
          <ac:chgData name="yasser belhati" userId="40ad36c926b9f19a" providerId="LiveId" clId="{1CE9D3E1-6070-498E-85DB-85F648AD78E5}" dt="2026-03-14T02:59:38.712" v="12" actId="1076"/>
          <ac:picMkLst>
            <pc:docMk/>
            <pc:sldMk cId="0" sldId="258"/>
            <ac:picMk id="2050" creationId="{1C5D00B4-BF10-1385-20DC-D3E97ACD89C9}"/>
          </ac:picMkLst>
        </pc:picChg>
      </pc:sldChg>
      <pc:sldChg chg="addSp delSp modSp mod">
        <pc:chgData name="yasser belhati" userId="40ad36c926b9f19a" providerId="LiveId" clId="{1CE9D3E1-6070-498E-85DB-85F648AD78E5}" dt="2026-03-14T03:38:55.816" v="128" actId="1076"/>
        <pc:sldMkLst>
          <pc:docMk/>
          <pc:sldMk cId="0" sldId="259"/>
        </pc:sldMkLst>
        <pc:spChg chg="del">
          <ac:chgData name="yasser belhati" userId="40ad36c926b9f19a" providerId="LiveId" clId="{1CE9D3E1-6070-498E-85DB-85F648AD78E5}" dt="2026-03-14T03:31:05.416" v="92" actId="21"/>
          <ac:spMkLst>
            <pc:docMk/>
            <pc:sldMk cId="0" sldId="259"/>
            <ac:spMk id="18" creationId="{00000000-0000-0000-0000-000000000000}"/>
          </ac:spMkLst>
        </pc:spChg>
        <pc:spChg chg="mod">
          <ac:chgData name="yasser belhati" userId="40ad36c926b9f19a" providerId="LiveId" clId="{1CE9D3E1-6070-498E-85DB-85F648AD78E5}" dt="2026-03-14T03:30:58.746" v="90" actId="21"/>
          <ac:spMkLst>
            <pc:docMk/>
            <pc:sldMk cId="0" sldId="259"/>
            <ac:spMk id="19" creationId="{00000000-0000-0000-0000-000000000000}"/>
          </ac:spMkLst>
        </pc:spChg>
        <pc:spChg chg="mod">
          <ac:chgData name="yasser belhati" userId="40ad36c926b9f19a" providerId="LiveId" clId="{1CE9D3E1-6070-498E-85DB-85F648AD78E5}" dt="2026-03-14T03:30:51.436" v="89" actId="20577"/>
          <ac:spMkLst>
            <pc:docMk/>
            <pc:sldMk cId="0" sldId="259"/>
            <ac:spMk id="20" creationId="{00000000-0000-0000-0000-000000000000}"/>
          </ac:spMkLst>
        </pc:spChg>
        <pc:spChg chg="del">
          <ac:chgData name="yasser belhati" userId="40ad36c926b9f19a" providerId="LiveId" clId="{1CE9D3E1-6070-498E-85DB-85F648AD78E5}" dt="2026-03-14T03:30:44.016" v="87" actId="21"/>
          <ac:spMkLst>
            <pc:docMk/>
            <pc:sldMk cId="0" sldId="259"/>
            <ac:spMk id="21" creationId="{00000000-0000-0000-0000-000000000000}"/>
          </ac:spMkLst>
        </pc:spChg>
        <pc:spChg chg="mod">
          <ac:chgData name="yasser belhati" userId="40ad36c926b9f19a" providerId="LiveId" clId="{1CE9D3E1-6070-498E-85DB-85F648AD78E5}" dt="2026-03-14T03:30:47.326" v="88" actId="20577"/>
          <ac:spMkLst>
            <pc:docMk/>
            <pc:sldMk cId="0" sldId="259"/>
            <ac:spMk id="23" creationId="{00000000-0000-0000-0000-000000000000}"/>
          </ac:spMkLst>
        </pc:spChg>
        <pc:spChg chg="add del mod">
          <ac:chgData name="yasser belhati" userId="40ad36c926b9f19a" providerId="LiveId" clId="{1CE9D3E1-6070-498E-85DB-85F648AD78E5}" dt="2026-03-14T03:31:09.717" v="94" actId="21"/>
          <ac:spMkLst>
            <pc:docMk/>
            <pc:sldMk cId="0" sldId="259"/>
            <ac:spMk id="24" creationId="{00000000-0000-0000-0000-000000000000}"/>
          </ac:spMkLst>
        </pc:spChg>
        <pc:picChg chg="del">
          <ac:chgData name="yasser belhati" userId="40ad36c926b9f19a" providerId="LiveId" clId="{1CE9D3E1-6070-498E-85DB-85F648AD78E5}" dt="2026-03-14T03:31:02.836" v="91" actId="21"/>
          <ac:picMkLst>
            <pc:docMk/>
            <pc:sldMk cId="0" sldId="259"/>
            <ac:picMk id="22" creationId="{00000000-0000-0000-0000-000000000000}"/>
          </ac:picMkLst>
        </pc:picChg>
        <pc:picChg chg="add del mod">
          <ac:chgData name="yasser belhati" userId="40ad36c926b9f19a" providerId="LiveId" clId="{1CE9D3E1-6070-498E-85DB-85F648AD78E5}" dt="2026-03-14T03:38:15.731" v="122" actId="21"/>
          <ac:picMkLst>
            <pc:docMk/>
            <pc:sldMk cId="0" sldId="259"/>
            <ac:picMk id="26" creationId="{88F82691-CB0D-EA6C-4F5B-7480F64596B0}"/>
          </ac:picMkLst>
        </pc:picChg>
        <pc:picChg chg="add mod">
          <ac:chgData name="yasser belhati" userId="40ad36c926b9f19a" providerId="LiveId" clId="{1CE9D3E1-6070-498E-85DB-85F648AD78E5}" dt="2026-03-14T03:38:55.816" v="128" actId="1076"/>
          <ac:picMkLst>
            <pc:docMk/>
            <pc:sldMk cId="0" sldId="259"/>
            <ac:picMk id="28" creationId="{C369361A-4DA8-2A43-2B30-83931B8705F5}"/>
          </ac:picMkLst>
        </pc:picChg>
        <pc:picChg chg="add mod">
          <ac:chgData name="yasser belhati" userId="40ad36c926b9f19a" providerId="LiveId" clId="{1CE9D3E1-6070-498E-85DB-85F648AD78E5}" dt="2026-03-14T02:59:53.809" v="17" actId="1076"/>
          <ac:picMkLst>
            <pc:docMk/>
            <pc:sldMk cId="0" sldId="259"/>
            <ac:picMk id="3074" creationId="{F78B23B8-FFAC-D0D1-0D31-442B6E2EBCE3}"/>
          </ac:picMkLst>
        </pc:picChg>
      </pc:sldChg>
      <pc:sldChg chg="addSp delSp modSp mod">
        <pc:chgData name="yasser belhati" userId="40ad36c926b9f19a" providerId="LiveId" clId="{1CE9D3E1-6070-498E-85DB-85F648AD78E5}" dt="2026-03-14T03:39:44.879" v="133" actId="1076"/>
        <pc:sldMkLst>
          <pc:docMk/>
          <pc:sldMk cId="0" sldId="260"/>
        </pc:sldMkLst>
        <pc:spChg chg="del">
          <ac:chgData name="yasser belhati" userId="40ad36c926b9f19a" providerId="LiveId" clId="{1CE9D3E1-6070-498E-85DB-85F648AD78E5}" dt="2026-03-14T03:36:20.778" v="109" actId="21"/>
          <ac:spMkLst>
            <pc:docMk/>
            <pc:sldMk cId="0" sldId="260"/>
            <ac:spMk id="14" creationId="{00000000-0000-0000-0000-000000000000}"/>
          </ac:spMkLst>
        </pc:spChg>
        <pc:spChg chg="mod">
          <ac:chgData name="yasser belhati" userId="40ad36c926b9f19a" providerId="LiveId" clId="{1CE9D3E1-6070-498E-85DB-85F648AD78E5}" dt="2026-03-14T03:36:12.309" v="106" actId="20577"/>
          <ac:spMkLst>
            <pc:docMk/>
            <pc:sldMk cId="0" sldId="260"/>
            <ac:spMk id="15" creationId="{00000000-0000-0000-0000-000000000000}"/>
          </ac:spMkLst>
        </pc:spChg>
        <pc:spChg chg="mod">
          <ac:chgData name="yasser belhati" userId="40ad36c926b9f19a" providerId="LiveId" clId="{1CE9D3E1-6070-498E-85DB-85F648AD78E5}" dt="2026-03-14T03:36:03.546" v="105" actId="20577"/>
          <ac:spMkLst>
            <pc:docMk/>
            <pc:sldMk cId="0" sldId="260"/>
            <ac:spMk id="16" creationId="{00000000-0000-0000-0000-000000000000}"/>
          </ac:spMkLst>
        </pc:spChg>
        <pc:spChg chg="del">
          <ac:chgData name="yasser belhati" userId="40ad36c926b9f19a" providerId="LiveId" clId="{1CE9D3E1-6070-498E-85DB-85F648AD78E5}" dt="2026-03-14T03:36:18.379" v="108" actId="21"/>
          <ac:spMkLst>
            <pc:docMk/>
            <pc:sldMk cId="0" sldId="260"/>
            <ac:spMk id="17" creationId="{00000000-0000-0000-0000-000000000000}"/>
          </ac:spMkLst>
        </pc:spChg>
        <pc:spChg chg="mod">
          <ac:chgData name="yasser belhati" userId="40ad36c926b9f19a" providerId="LiveId" clId="{1CE9D3E1-6070-498E-85DB-85F648AD78E5}" dt="2026-03-14T03:36:14.745" v="107" actId="20577"/>
          <ac:spMkLst>
            <pc:docMk/>
            <pc:sldMk cId="0" sldId="260"/>
            <ac:spMk id="19" creationId="{00000000-0000-0000-0000-000000000000}"/>
          </ac:spMkLst>
        </pc:spChg>
        <pc:picChg chg="del">
          <ac:chgData name="yasser belhati" userId="40ad36c926b9f19a" providerId="LiveId" clId="{1CE9D3E1-6070-498E-85DB-85F648AD78E5}" dt="2026-03-14T03:36:24.129" v="110" actId="21"/>
          <ac:picMkLst>
            <pc:docMk/>
            <pc:sldMk cId="0" sldId="260"/>
            <ac:picMk id="18" creationId="{00000000-0000-0000-0000-000000000000}"/>
          </ac:picMkLst>
        </pc:picChg>
        <pc:picChg chg="add del mod">
          <ac:chgData name="yasser belhati" userId="40ad36c926b9f19a" providerId="LiveId" clId="{1CE9D3E1-6070-498E-85DB-85F648AD78E5}" dt="2026-03-14T03:36:28.606" v="112" actId="21"/>
          <ac:picMkLst>
            <pc:docMk/>
            <pc:sldMk cId="0" sldId="260"/>
            <ac:picMk id="20" creationId="{00000000-0000-0000-0000-000000000000}"/>
          </ac:picMkLst>
        </pc:picChg>
        <pc:picChg chg="add del mod">
          <ac:chgData name="yasser belhati" userId="40ad36c926b9f19a" providerId="LiveId" clId="{1CE9D3E1-6070-498E-85DB-85F648AD78E5}" dt="2026-03-14T03:39:25.016" v="129" actId="21"/>
          <ac:picMkLst>
            <pc:docMk/>
            <pc:sldMk cId="0" sldId="260"/>
            <ac:picMk id="22" creationId="{BCE36668-BC8E-5CDE-7085-3457A89E3959}"/>
          </ac:picMkLst>
        </pc:picChg>
        <pc:picChg chg="add del mod">
          <ac:chgData name="yasser belhati" userId="40ad36c926b9f19a" providerId="LiveId" clId="{1CE9D3E1-6070-498E-85DB-85F648AD78E5}" dt="2026-03-14T03:39:29.158" v="131" actId="21"/>
          <ac:picMkLst>
            <pc:docMk/>
            <pc:sldMk cId="0" sldId="260"/>
            <ac:picMk id="23" creationId="{BCE36668-BC8E-5CDE-7085-3457A89E3959}"/>
          </ac:picMkLst>
        </pc:picChg>
        <pc:picChg chg="add mod">
          <ac:chgData name="yasser belhati" userId="40ad36c926b9f19a" providerId="LiveId" clId="{1CE9D3E1-6070-498E-85DB-85F648AD78E5}" dt="2026-03-14T03:39:44.879" v="133" actId="1076"/>
          <ac:picMkLst>
            <pc:docMk/>
            <pc:sldMk cId="0" sldId="260"/>
            <ac:picMk id="25" creationId="{D26E6C6A-E38A-AAE8-8197-254AC317EE05}"/>
          </ac:picMkLst>
        </pc:picChg>
        <pc:picChg chg="add mod">
          <ac:chgData name="yasser belhati" userId="40ad36c926b9f19a" providerId="LiveId" clId="{1CE9D3E1-6070-498E-85DB-85F648AD78E5}" dt="2026-03-14T03:02:07.059" v="24" actId="1076"/>
          <ac:picMkLst>
            <pc:docMk/>
            <pc:sldMk cId="0" sldId="260"/>
            <ac:picMk id="4098" creationId="{FF40110F-DB0D-31EE-AAD1-87F398736763}"/>
          </ac:picMkLst>
        </pc:picChg>
      </pc:sldChg>
      <pc:sldChg chg="addSp delSp modSp mod">
        <pc:chgData name="yasser belhati" userId="40ad36c926b9f19a" providerId="LiveId" clId="{1CE9D3E1-6070-498E-85DB-85F648AD78E5}" dt="2026-03-14T03:46:56.769" v="150" actId="14100"/>
        <pc:sldMkLst>
          <pc:docMk/>
          <pc:sldMk cId="0" sldId="261"/>
        </pc:sldMkLst>
        <pc:spChg chg="del">
          <ac:chgData name="yasser belhati" userId="40ad36c926b9f19a" providerId="LiveId" clId="{1CE9D3E1-6070-498E-85DB-85F648AD78E5}" dt="2026-03-14T03:45:53.946" v="139" actId="21"/>
          <ac:spMkLst>
            <pc:docMk/>
            <pc:sldMk cId="0" sldId="261"/>
            <ac:spMk id="26" creationId="{00000000-0000-0000-0000-000000000000}"/>
          </ac:spMkLst>
        </pc:spChg>
        <pc:spChg chg="mod">
          <ac:chgData name="yasser belhati" userId="40ad36c926b9f19a" providerId="LiveId" clId="{1CE9D3E1-6070-498E-85DB-85F648AD78E5}" dt="2026-03-14T03:45:43.008" v="135" actId="20577"/>
          <ac:spMkLst>
            <pc:docMk/>
            <pc:sldMk cId="0" sldId="261"/>
            <ac:spMk id="27" creationId="{00000000-0000-0000-0000-000000000000}"/>
          </ac:spMkLst>
        </pc:spChg>
        <pc:spChg chg="mod">
          <ac:chgData name="yasser belhati" userId="40ad36c926b9f19a" providerId="LiveId" clId="{1CE9D3E1-6070-498E-85DB-85F648AD78E5}" dt="2026-03-14T03:45:39.727" v="134" actId="20577"/>
          <ac:spMkLst>
            <pc:docMk/>
            <pc:sldMk cId="0" sldId="261"/>
            <ac:spMk id="28" creationId="{00000000-0000-0000-0000-000000000000}"/>
          </ac:spMkLst>
        </pc:spChg>
        <pc:spChg chg="del">
          <ac:chgData name="yasser belhati" userId="40ad36c926b9f19a" providerId="LiveId" clId="{1CE9D3E1-6070-498E-85DB-85F648AD78E5}" dt="2026-03-14T03:45:51.845" v="138" actId="21"/>
          <ac:spMkLst>
            <pc:docMk/>
            <pc:sldMk cId="0" sldId="261"/>
            <ac:spMk id="29" creationId="{00000000-0000-0000-0000-000000000000}"/>
          </ac:spMkLst>
        </pc:spChg>
        <pc:spChg chg="mod">
          <ac:chgData name="yasser belhati" userId="40ad36c926b9f19a" providerId="LiveId" clId="{1CE9D3E1-6070-498E-85DB-85F648AD78E5}" dt="2026-03-14T03:45:45.611" v="136" actId="20577"/>
          <ac:spMkLst>
            <pc:docMk/>
            <pc:sldMk cId="0" sldId="261"/>
            <ac:spMk id="31" creationId="{00000000-0000-0000-0000-000000000000}"/>
          </ac:spMkLst>
        </pc:spChg>
        <pc:spChg chg="add del mod">
          <ac:chgData name="yasser belhati" userId="40ad36c926b9f19a" providerId="LiveId" clId="{1CE9D3E1-6070-498E-85DB-85F648AD78E5}" dt="2026-03-14T03:45:57.995" v="141" actId="21"/>
          <ac:spMkLst>
            <pc:docMk/>
            <pc:sldMk cId="0" sldId="261"/>
            <ac:spMk id="32" creationId="{00000000-0000-0000-0000-000000000000}"/>
          </ac:spMkLst>
        </pc:spChg>
        <pc:picChg chg="del">
          <ac:chgData name="yasser belhati" userId="40ad36c926b9f19a" providerId="LiveId" clId="{1CE9D3E1-6070-498E-85DB-85F648AD78E5}" dt="2026-03-14T03:45:49.125" v="137" actId="21"/>
          <ac:picMkLst>
            <pc:docMk/>
            <pc:sldMk cId="0" sldId="261"/>
            <ac:picMk id="30" creationId="{00000000-0000-0000-0000-000000000000}"/>
          </ac:picMkLst>
        </pc:picChg>
        <pc:picChg chg="add del mod">
          <ac:chgData name="yasser belhati" userId="40ad36c926b9f19a" providerId="LiveId" clId="{1CE9D3E1-6070-498E-85DB-85F648AD78E5}" dt="2026-03-14T03:46:25.369" v="145" actId="22"/>
          <ac:picMkLst>
            <pc:docMk/>
            <pc:sldMk cId="0" sldId="261"/>
            <ac:picMk id="34" creationId="{F05E37EB-904B-9171-BEE7-EE2B5AEDB353}"/>
          </ac:picMkLst>
        </pc:picChg>
        <pc:picChg chg="add mod">
          <ac:chgData name="yasser belhati" userId="40ad36c926b9f19a" providerId="LiveId" clId="{1CE9D3E1-6070-498E-85DB-85F648AD78E5}" dt="2026-03-14T03:46:56.769" v="150" actId="14100"/>
          <ac:picMkLst>
            <pc:docMk/>
            <pc:sldMk cId="0" sldId="261"/>
            <ac:picMk id="36" creationId="{2A6C9E35-EBF2-870C-8A52-D44C1365E8D2}"/>
          </ac:picMkLst>
        </pc:picChg>
        <pc:picChg chg="add mod">
          <ac:chgData name="yasser belhati" userId="40ad36c926b9f19a" providerId="LiveId" clId="{1CE9D3E1-6070-498E-85DB-85F648AD78E5}" dt="2026-03-14T03:02:27.116" v="31" actId="1076"/>
          <ac:picMkLst>
            <pc:docMk/>
            <pc:sldMk cId="0" sldId="261"/>
            <ac:picMk id="5122" creationId="{1DB83B1F-6A88-445C-4FCB-A9F9D780503D}"/>
          </ac:picMkLst>
        </pc:picChg>
      </pc:sldChg>
      <pc:sldChg chg="addSp delSp modSp mod">
        <pc:chgData name="yasser belhati" userId="40ad36c926b9f19a" providerId="LiveId" clId="{1CE9D3E1-6070-498E-85DB-85F648AD78E5}" dt="2026-03-14T03:48:06.035" v="162" actId="14100"/>
        <pc:sldMkLst>
          <pc:docMk/>
          <pc:sldMk cId="0" sldId="262"/>
        </pc:sldMkLst>
        <pc:spChg chg="del">
          <ac:chgData name="yasser belhati" userId="40ad36c926b9f19a" providerId="LiveId" clId="{1CE9D3E1-6070-498E-85DB-85F648AD78E5}" dt="2026-03-14T03:47:41.345" v="155" actId="21"/>
          <ac:spMkLst>
            <pc:docMk/>
            <pc:sldMk cId="0" sldId="262"/>
            <ac:spMk id="5" creationId="{00000000-0000-0000-0000-000000000000}"/>
          </ac:spMkLst>
        </pc:spChg>
        <pc:spChg chg="mod">
          <ac:chgData name="yasser belhati" userId="40ad36c926b9f19a" providerId="LiveId" clId="{1CE9D3E1-6070-498E-85DB-85F648AD78E5}" dt="2026-03-14T03:47:36.008" v="153" actId="20577"/>
          <ac:spMkLst>
            <pc:docMk/>
            <pc:sldMk cId="0" sldId="262"/>
            <ac:spMk id="6" creationId="{00000000-0000-0000-0000-000000000000}"/>
          </ac:spMkLst>
        </pc:spChg>
        <pc:spChg chg="mod">
          <ac:chgData name="yasser belhati" userId="40ad36c926b9f19a" providerId="LiveId" clId="{1CE9D3E1-6070-498E-85DB-85F648AD78E5}" dt="2026-03-14T03:47:33.691" v="152" actId="20577"/>
          <ac:spMkLst>
            <pc:docMk/>
            <pc:sldMk cId="0" sldId="262"/>
            <ac:spMk id="7" creationId="{00000000-0000-0000-0000-000000000000}"/>
          </ac:spMkLst>
        </pc:spChg>
        <pc:spChg chg="del">
          <ac:chgData name="yasser belhati" userId="40ad36c926b9f19a" providerId="LiveId" clId="{1CE9D3E1-6070-498E-85DB-85F648AD78E5}" dt="2026-03-14T03:47:39.405" v="154" actId="21"/>
          <ac:spMkLst>
            <pc:docMk/>
            <pc:sldMk cId="0" sldId="262"/>
            <ac:spMk id="8" creationId="{00000000-0000-0000-0000-000000000000}"/>
          </ac:spMkLst>
        </pc:spChg>
        <pc:spChg chg="mod">
          <ac:chgData name="yasser belhati" userId="40ad36c926b9f19a" providerId="LiveId" clId="{1CE9D3E1-6070-498E-85DB-85F648AD78E5}" dt="2026-03-14T03:47:30.310" v="151" actId="20577"/>
          <ac:spMkLst>
            <pc:docMk/>
            <pc:sldMk cId="0" sldId="262"/>
            <ac:spMk id="10" creationId="{00000000-0000-0000-0000-000000000000}"/>
          </ac:spMkLst>
        </pc:spChg>
        <pc:picChg chg="del">
          <ac:chgData name="yasser belhati" userId="40ad36c926b9f19a" providerId="LiveId" clId="{1CE9D3E1-6070-498E-85DB-85F648AD78E5}" dt="2026-03-14T03:47:43.542" v="156" actId="21"/>
          <ac:picMkLst>
            <pc:docMk/>
            <pc:sldMk cId="0" sldId="262"/>
            <ac:picMk id="9" creationId="{00000000-0000-0000-0000-000000000000}"/>
          </ac:picMkLst>
        </pc:picChg>
        <pc:picChg chg="add mod">
          <ac:chgData name="yasser belhati" userId="40ad36c926b9f19a" providerId="LiveId" clId="{1CE9D3E1-6070-498E-85DB-85F648AD78E5}" dt="2026-03-14T03:48:06.035" v="162" actId="14100"/>
          <ac:picMkLst>
            <pc:docMk/>
            <pc:sldMk cId="0" sldId="262"/>
            <ac:picMk id="27" creationId="{957806D3-45D1-7574-EE4D-605CBCB0BA5B}"/>
          </ac:picMkLst>
        </pc:picChg>
        <pc:picChg chg="add mod">
          <ac:chgData name="yasser belhati" userId="40ad36c926b9f19a" providerId="LiveId" clId="{1CE9D3E1-6070-498E-85DB-85F648AD78E5}" dt="2026-03-14T03:02:47.699" v="37" actId="1076"/>
          <ac:picMkLst>
            <pc:docMk/>
            <pc:sldMk cId="0" sldId="262"/>
            <ac:picMk id="6146" creationId="{BBF02C09-A7C3-1EA8-BCDF-EAC022B4B56C}"/>
          </ac:picMkLst>
        </pc:picChg>
      </pc:sldChg>
      <pc:sldChg chg="addSp delSp modSp mod">
        <pc:chgData name="yasser belhati" userId="40ad36c926b9f19a" providerId="LiveId" clId="{1CE9D3E1-6070-498E-85DB-85F648AD78E5}" dt="2026-03-14T03:49:21.689" v="181" actId="1076"/>
        <pc:sldMkLst>
          <pc:docMk/>
          <pc:sldMk cId="0" sldId="263"/>
        </pc:sldMkLst>
        <pc:spChg chg="del">
          <ac:chgData name="yasser belhati" userId="40ad36c926b9f19a" providerId="LiveId" clId="{1CE9D3E1-6070-498E-85DB-85F648AD78E5}" dt="2026-03-14T03:48:50.136" v="172" actId="21"/>
          <ac:spMkLst>
            <pc:docMk/>
            <pc:sldMk cId="0" sldId="263"/>
            <ac:spMk id="16" creationId="{00000000-0000-0000-0000-000000000000}"/>
          </ac:spMkLst>
        </pc:spChg>
        <pc:spChg chg="mod">
          <ac:chgData name="yasser belhati" userId="40ad36c926b9f19a" providerId="LiveId" clId="{1CE9D3E1-6070-498E-85DB-85F648AD78E5}" dt="2026-03-14T03:48:40.095" v="169" actId="20577"/>
          <ac:spMkLst>
            <pc:docMk/>
            <pc:sldMk cId="0" sldId="263"/>
            <ac:spMk id="17" creationId="{00000000-0000-0000-0000-000000000000}"/>
          </ac:spMkLst>
        </pc:spChg>
        <pc:spChg chg="mod">
          <ac:chgData name="yasser belhati" userId="40ad36c926b9f19a" providerId="LiveId" clId="{1CE9D3E1-6070-498E-85DB-85F648AD78E5}" dt="2026-03-14T03:48:37.956" v="168" actId="20577"/>
          <ac:spMkLst>
            <pc:docMk/>
            <pc:sldMk cId="0" sldId="263"/>
            <ac:spMk id="18" creationId="{00000000-0000-0000-0000-000000000000}"/>
          </ac:spMkLst>
        </pc:spChg>
        <pc:spChg chg="del">
          <ac:chgData name="yasser belhati" userId="40ad36c926b9f19a" providerId="LiveId" clId="{1CE9D3E1-6070-498E-85DB-85F648AD78E5}" dt="2026-03-14T03:48:47.466" v="171" actId="21"/>
          <ac:spMkLst>
            <pc:docMk/>
            <pc:sldMk cId="0" sldId="263"/>
            <ac:spMk id="19" creationId="{00000000-0000-0000-0000-000000000000}"/>
          </ac:spMkLst>
        </pc:spChg>
        <pc:spChg chg="mod">
          <ac:chgData name="yasser belhati" userId="40ad36c926b9f19a" providerId="LiveId" clId="{1CE9D3E1-6070-498E-85DB-85F648AD78E5}" dt="2026-03-14T03:48:35.598" v="167" actId="20577"/>
          <ac:spMkLst>
            <pc:docMk/>
            <pc:sldMk cId="0" sldId="263"/>
            <ac:spMk id="21" creationId="{00000000-0000-0000-0000-000000000000}"/>
          </ac:spMkLst>
        </pc:spChg>
        <pc:spChg chg="del">
          <ac:chgData name="yasser belhati" userId="40ad36c926b9f19a" providerId="LiveId" clId="{1CE9D3E1-6070-498E-85DB-85F648AD78E5}" dt="2026-03-14T03:48:52.738" v="173" actId="21"/>
          <ac:spMkLst>
            <pc:docMk/>
            <pc:sldMk cId="0" sldId="263"/>
            <ac:spMk id="22" creationId="{00000000-0000-0000-0000-000000000000}"/>
          </ac:spMkLst>
        </pc:spChg>
        <pc:spChg chg="mod">
          <ac:chgData name="yasser belhati" userId="40ad36c926b9f19a" providerId="LiveId" clId="{1CE9D3E1-6070-498E-85DB-85F648AD78E5}" dt="2026-03-14T03:48:32.756" v="166" actId="20577"/>
          <ac:spMkLst>
            <pc:docMk/>
            <pc:sldMk cId="0" sldId="263"/>
            <ac:spMk id="23" creationId="{00000000-0000-0000-0000-000000000000}"/>
          </ac:spMkLst>
        </pc:spChg>
        <pc:spChg chg="mod">
          <ac:chgData name="yasser belhati" userId="40ad36c926b9f19a" providerId="LiveId" clId="{1CE9D3E1-6070-498E-85DB-85F648AD78E5}" dt="2026-03-14T03:48:30.577" v="165" actId="20577"/>
          <ac:spMkLst>
            <pc:docMk/>
            <pc:sldMk cId="0" sldId="263"/>
            <ac:spMk id="24" creationId="{00000000-0000-0000-0000-000000000000}"/>
          </ac:spMkLst>
        </pc:spChg>
        <pc:spChg chg="del">
          <ac:chgData name="yasser belhati" userId="40ad36c926b9f19a" providerId="LiveId" clId="{1CE9D3E1-6070-498E-85DB-85F648AD78E5}" dt="2026-03-14T03:48:55.578" v="174" actId="21"/>
          <ac:spMkLst>
            <pc:docMk/>
            <pc:sldMk cId="0" sldId="263"/>
            <ac:spMk id="25" creationId="{00000000-0000-0000-0000-000000000000}"/>
          </ac:spMkLst>
        </pc:spChg>
        <pc:spChg chg="mod">
          <ac:chgData name="yasser belhati" userId="40ad36c926b9f19a" providerId="LiveId" clId="{1CE9D3E1-6070-498E-85DB-85F648AD78E5}" dt="2026-03-14T03:48:24.346" v="164" actId="20577"/>
          <ac:spMkLst>
            <pc:docMk/>
            <pc:sldMk cId="0" sldId="263"/>
            <ac:spMk id="26" creationId="{00000000-0000-0000-0000-000000000000}"/>
          </ac:spMkLst>
        </pc:spChg>
        <pc:spChg chg="mod">
          <ac:chgData name="yasser belhati" userId="40ad36c926b9f19a" providerId="LiveId" clId="{1CE9D3E1-6070-498E-85DB-85F648AD78E5}" dt="2026-03-14T03:48:22.236" v="163" actId="20577"/>
          <ac:spMkLst>
            <pc:docMk/>
            <pc:sldMk cId="0" sldId="263"/>
            <ac:spMk id="27" creationId="{00000000-0000-0000-0000-000000000000}"/>
          </ac:spMkLst>
        </pc:spChg>
        <pc:picChg chg="del">
          <ac:chgData name="yasser belhati" userId="40ad36c926b9f19a" providerId="LiveId" clId="{1CE9D3E1-6070-498E-85DB-85F648AD78E5}" dt="2026-03-14T03:48:43.790" v="170" actId="21"/>
          <ac:picMkLst>
            <pc:docMk/>
            <pc:sldMk cId="0" sldId="263"/>
            <ac:picMk id="20" creationId="{00000000-0000-0000-0000-000000000000}"/>
          </ac:picMkLst>
        </pc:picChg>
        <pc:picChg chg="add mod">
          <ac:chgData name="yasser belhati" userId="40ad36c926b9f19a" providerId="LiveId" clId="{1CE9D3E1-6070-498E-85DB-85F648AD78E5}" dt="2026-03-14T03:49:21.689" v="181" actId="1076"/>
          <ac:picMkLst>
            <pc:docMk/>
            <pc:sldMk cId="0" sldId="263"/>
            <ac:picMk id="30" creationId="{E7637A2A-900D-0D53-213B-5357470D20FA}"/>
          </ac:picMkLst>
        </pc:picChg>
        <pc:picChg chg="add mod">
          <ac:chgData name="yasser belhati" userId="40ad36c926b9f19a" providerId="LiveId" clId="{1CE9D3E1-6070-498E-85DB-85F648AD78E5}" dt="2026-03-14T03:03:01.320" v="41" actId="1076"/>
          <ac:picMkLst>
            <pc:docMk/>
            <pc:sldMk cId="0" sldId="263"/>
            <ac:picMk id="7170" creationId="{D9EB6B7A-ED44-E83A-EB49-F78D39B74831}"/>
          </ac:picMkLst>
        </pc:picChg>
      </pc:sldChg>
      <pc:sldChg chg="addSp delSp modSp mod">
        <pc:chgData name="yasser belhati" userId="40ad36c926b9f19a" providerId="LiveId" clId="{1CE9D3E1-6070-498E-85DB-85F648AD78E5}" dt="2026-03-14T05:07:07.683" v="191" actId="1076"/>
        <pc:sldMkLst>
          <pc:docMk/>
          <pc:sldMk cId="0" sldId="264"/>
        </pc:sldMkLst>
        <pc:spChg chg="del">
          <ac:chgData name="yasser belhati" userId="40ad36c926b9f19a" providerId="LiveId" clId="{1CE9D3E1-6070-498E-85DB-85F648AD78E5}" dt="2026-03-14T05:06:45.323" v="186" actId="21"/>
          <ac:spMkLst>
            <pc:docMk/>
            <pc:sldMk cId="0" sldId="264"/>
            <ac:spMk id="16" creationId="{00000000-0000-0000-0000-000000000000}"/>
          </ac:spMkLst>
        </pc:spChg>
        <pc:spChg chg="mod">
          <ac:chgData name="yasser belhati" userId="40ad36c926b9f19a" providerId="LiveId" clId="{1CE9D3E1-6070-498E-85DB-85F648AD78E5}" dt="2026-03-14T05:06:42.436" v="185" actId="20577"/>
          <ac:spMkLst>
            <pc:docMk/>
            <pc:sldMk cId="0" sldId="264"/>
            <ac:spMk id="17" creationId="{00000000-0000-0000-0000-000000000000}"/>
          </ac:spMkLst>
        </pc:spChg>
        <pc:spChg chg="mod">
          <ac:chgData name="yasser belhati" userId="40ad36c926b9f19a" providerId="LiveId" clId="{1CE9D3E1-6070-498E-85DB-85F648AD78E5}" dt="2026-03-14T05:06:38.416" v="183" actId="20577"/>
          <ac:spMkLst>
            <pc:docMk/>
            <pc:sldMk cId="0" sldId="264"/>
            <ac:spMk id="18" creationId="{00000000-0000-0000-0000-000000000000}"/>
          </ac:spMkLst>
        </pc:spChg>
        <pc:spChg chg="del">
          <ac:chgData name="yasser belhati" userId="40ad36c926b9f19a" providerId="LiveId" clId="{1CE9D3E1-6070-498E-85DB-85F648AD78E5}" dt="2026-03-14T05:06:48.023" v="187" actId="21"/>
          <ac:spMkLst>
            <pc:docMk/>
            <pc:sldMk cId="0" sldId="264"/>
            <ac:spMk id="19" creationId="{00000000-0000-0000-0000-000000000000}"/>
          </ac:spMkLst>
        </pc:spChg>
        <pc:spChg chg="mod">
          <ac:chgData name="yasser belhati" userId="40ad36c926b9f19a" providerId="LiveId" clId="{1CE9D3E1-6070-498E-85DB-85F648AD78E5}" dt="2026-03-14T05:06:35.873" v="182" actId="20577"/>
          <ac:spMkLst>
            <pc:docMk/>
            <pc:sldMk cId="0" sldId="264"/>
            <ac:spMk id="21" creationId="{00000000-0000-0000-0000-000000000000}"/>
          </ac:spMkLst>
        </pc:spChg>
        <pc:picChg chg="del">
          <ac:chgData name="yasser belhati" userId="40ad36c926b9f19a" providerId="LiveId" clId="{1CE9D3E1-6070-498E-85DB-85F648AD78E5}" dt="2026-03-14T05:06:50.796" v="188" actId="21"/>
          <ac:picMkLst>
            <pc:docMk/>
            <pc:sldMk cId="0" sldId="264"/>
            <ac:picMk id="20" creationId="{00000000-0000-0000-0000-000000000000}"/>
          </ac:picMkLst>
        </pc:picChg>
        <pc:picChg chg="add mod">
          <ac:chgData name="yasser belhati" userId="40ad36c926b9f19a" providerId="LiveId" clId="{1CE9D3E1-6070-498E-85DB-85F648AD78E5}" dt="2026-03-14T05:07:07.683" v="191" actId="1076"/>
          <ac:picMkLst>
            <pc:docMk/>
            <pc:sldMk cId="0" sldId="264"/>
            <ac:picMk id="23" creationId="{8941E41C-EF03-5B1F-13FB-7A45ED4575AB}"/>
          </ac:picMkLst>
        </pc:picChg>
        <pc:picChg chg="add mod">
          <ac:chgData name="yasser belhati" userId="40ad36c926b9f19a" providerId="LiveId" clId="{1CE9D3E1-6070-498E-85DB-85F648AD78E5}" dt="2026-03-14T03:03:14.108" v="45" actId="1076"/>
          <ac:picMkLst>
            <pc:docMk/>
            <pc:sldMk cId="0" sldId="264"/>
            <ac:picMk id="8194" creationId="{43A7E5F3-A7D6-EED9-D322-B16EF5997383}"/>
          </ac:picMkLst>
        </pc:picChg>
      </pc:sldChg>
      <pc:sldChg chg="addSp modSp">
        <pc:chgData name="yasser belhati" userId="40ad36c926b9f19a" providerId="LiveId" clId="{1CE9D3E1-6070-498E-85DB-85F648AD78E5}" dt="2026-03-14T03:07:26.002" v="52" actId="1076"/>
        <pc:sldMkLst>
          <pc:docMk/>
          <pc:sldMk cId="0" sldId="265"/>
        </pc:sldMkLst>
        <pc:picChg chg="add mod">
          <ac:chgData name="yasser belhati" userId="40ad36c926b9f19a" providerId="LiveId" clId="{1CE9D3E1-6070-498E-85DB-85F648AD78E5}" dt="2026-03-14T03:07:26.002" v="52" actId="1076"/>
          <ac:picMkLst>
            <pc:docMk/>
            <pc:sldMk cId="0" sldId="265"/>
            <ac:picMk id="9218" creationId="{2D44B14E-1587-CDAD-8497-385F2F7DBF5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9003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7.pn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1.png"/><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8.png"/><Relationship Id="rId4" Type="http://schemas.openxmlformats.org/officeDocument/2006/relationships/image" Target="../media/image13.svg"/><Relationship Id="rId9"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jpeg"/><Relationship Id="rId5" Type="http://schemas.openxmlformats.org/officeDocument/2006/relationships/image" Target="../media/image21.png"/><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280190" y="897493"/>
            <a:ext cx="7556421" cy="5171123"/>
          </a:xfrm>
          <a:prstGeom prst="rect">
            <a:avLst/>
          </a:prstGeom>
          <a:noFill/>
          <a:ln/>
        </p:spPr>
        <p:txBody>
          <a:bodyPr wrap="square" lIns="0" tIns="0" rIns="0" bIns="0" rtlCol="0" anchor="t"/>
          <a:lstStyle/>
          <a:p>
            <a:pPr marL="0" indent="0" algn="l">
              <a:lnSpc>
                <a:spcPts val="10150"/>
              </a:lnSpc>
              <a:buNone/>
            </a:pPr>
            <a:r>
              <a:rPr lang="en-US" sz="8450" dirty="0">
                <a:solidFill>
                  <a:srgbClr val="171717"/>
                </a:solidFill>
                <a:latin typeface="Space Grotesk Medium" pitchFamily="34" charset="0"/>
                <a:ea typeface="Space Grotesk Medium" pitchFamily="34" charset="-122"/>
                <a:cs typeface="Space Grotesk Medium" pitchFamily="34" charset="-120"/>
              </a:rPr>
              <a:t>Système de Scoring de Crédit Bancaire</a:t>
            </a:r>
            <a:endParaRPr lang="en-US" sz="8450" dirty="0"/>
          </a:p>
        </p:txBody>
      </p:sp>
      <p:sp>
        <p:nvSpPr>
          <p:cNvPr id="4" name="Text 1"/>
          <p:cNvSpPr/>
          <p:nvPr/>
        </p:nvSpPr>
        <p:spPr>
          <a:xfrm>
            <a:off x="6280190" y="6375678"/>
            <a:ext cx="7556421" cy="294084"/>
          </a:xfrm>
          <a:prstGeom prst="rect">
            <a:avLst/>
          </a:prstGeom>
          <a:noFill/>
          <a:ln/>
        </p:spPr>
        <p:txBody>
          <a:bodyPr wrap="none" lIns="0" tIns="0" rIns="0" bIns="0" rtlCol="0" anchor="t"/>
          <a:lstStyle/>
          <a:p>
            <a:pPr marL="0" indent="0" algn="l">
              <a:lnSpc>
                <a:spcPts val="2300"/>
              </a:lnSpc>
              <a:buNone/>
            </a:pPr>
            <a:r>
              <a:rPr lang="en-US" sz="1650" dirty="0">
                <a:solidFill>
                  <a:srgbClr val="2A2A2A"/>
                </a:solidFill>
                <a:latin typeface="DM Sans" pitchFamily="34" charset="0"/>
                <a:ea typeface="DM Sans" pitchFamily="34" charset="-122"/>
                <a:cs typeface="DM Sans" pitchFamily="34" charset="-120"/>
              </a:rPr>
              <a:t>Analyse et optimisation du risque par l'Apprentissage Automatique</a:t>
            </a:r>
            <a:endParaRPr lang="en-US" sz="1650" dirty="0"/>
          </a:p>
        </p:txBody>
      </p:sp>
      <p:sp>
        <p:nvSpPr>
          <p:cNvPr id="5" name="Shape 2"/>
          <p:cNvSpPr/>
          <p:nvPr/>
        </p:nvSpPr>
        <p:spPr>
          <a:xfrm>
            <a:off x="6249710" y="6869549"/>
            <a:ext cx="60960" cy="766763"/>
          </a:xfrm>
          <a:prstGeom prst="rect">
            <a:avLst/>
          </a:prstGeom>
          <a:solidFill>
            <a:srgbClr val="171717"/>
          </a:solidFill>
          <a:ln/>
        </p:spPr>
      </p:sp>
      <p:sp>
        <p:nvSpPr>
          <p:cNvPr id="6" name="Text 3"/>
          <p:cNvSpPr/>
          <p:nvPr/>
        </p:nvSpPr>
        <p:spPr>
          <a:xfrm>
            <a:off x="6556534" y="6900029"/>
            <a:ext cx="2071807" cy="705803"/>
          </a:xfrm>
          <a:prstGeom prst="rect">
            <a:avLst/>
          </a:prstGeom>
          <a:noFill/>
          <a:ln/>
        </p:spPr>
        <p:txBody>
          <a:bodyPr wrap="square" lIns="0" tIns="0" rIns="0" bIns="0" rtlCol="0" anchor="t"/>
          <a:lstStyle/>
          <a:p>
            <a:pPr marL="0" indent="0" algn="l">
              <a:lnSpc>
                <a:spcPts val="1850"/>
              </a:lnSpc>
              <a:buNone/>
            </a:pPr>
            <a:r>
              <a:rPr lang="en-US" sz="1350" b="1" dirty="0">
                <a:solidFill>
                  <a:srgbClr val="2A2A2A"/>
                </a:solidFill>
                <a:latin typeface="DM Sans" pitchFamily="34" charset="0"/>
                <a:ea typeface="DM Sans" pitchFamily="34" charset="-122"/>
                <a:cs typeface="DM Sans" pitchFamily="34" charset="-120"/>
              </a:rPr>
              <a:t>Réalisé par :</a:t>
            </a:r>
            <a:r>
              <a:rPr lang="en-US" sz="1350" dirty="0">
                <a:solidFill>
                  <a:srgbClr val="2A2A2A"/>
                </a:solidFill>
                <a:latin typeface="DM Sans" pitchFamily="34" charset="0"/>
                <a:ea typeface="DM Sans" pitchFamily="34" charset="-122"/>
                <a:cs typeface="DM Sans" pitchFamily="34" charset="-120"/>
              </a:rPr>
              <a:t> Yasser BELHATI &amp; Mohamed Amine GRIOUI</a:t>
            </a:r>
            <a:endParaRPr lang="en-US" sz="1350" dirty="0"/>
          </a:p>
        </p:txBody>
      </p:sp>
      <p:sp>
        <p:nvSpPr>
          <p:cNvPr id="7" name="Shape 4"/>
          <p:cNvSpPr/>
          <p:nvPr/>
        </p:nvSpPr>
        <p:spPr>
          <a:xfrm>
            <a:off x="8853726" y="6869549"/>
            <a:ext cx="60960" cy="766763"/>
          </a:xfrm>
          <a:prstGeom prst="rect">
            <a:avLst/>
          </a:prstGeom>
          <a:solidFill>
            <a:srgbClr val="4A5F73"/>
          </a:solidFill>
          <a:ln/>
        </p:spPr>
      </p:sp>
      <p:sp>
        <p:nvSpPr>
          <p:cNvPr id="8" name="Text 5"/>
          <p:cNvSpPr/>
          <p:nvPr/>
        </p:nvSpPr>
        <p:spPr>
          <a:xfrm>
            <a:off x="9160550" y="6900029"/>
            <a:ext cx="2071926" cy="470535"/>
          </a:xfrm>
          <a:prstGeom prst="rect">
            <a:avLst/>
          </a:prstGeom>
          <a:noFill/>
          <a:ln/>
        </p:spPr>
        <p:txBody>
          <a:bodyPr wrap="square" lIns="0" tIns="0" rIns="0" bIns="0" rtlCol="0" anchor="t"/>
          <a:lstStyle/>
          <a:p>
            <a:pPr marL="0" indent="0" algn="l">
              <a:lnSpc>
                <a:spcPts val="1850"/>
              </a:lnSpc>
              <a:buNone/>
            </a:pPr>
            <a:r>
              <a:rPr lang="en-US" sz="1350" b="1" dirty="0">
                <a:solidFill>
                  <a:srgbClr val="2A2A2A"/>
                </a:solidFill>
                <a:latin typeface="DM Sans" pitchFamily="34" charset="0"/>
                <a:ea typeface="DM Sans" pitchFamily="34" charset="-122"/>
                <a:cs typeface="DM Sans" pitchFamily="34" charset="-120"/>
              </a:rPr>
              <a:t>Sous la direction de :</a:t>
            </a:r>
            <a:r>
              <a:rPr lang="en-US" sz="1350" dirty="0">
                <a:solidFill>
                  <a:srgbClr val="2A2A2A"/>
                </a:solidFill>
                <a:latin typeface="DM Sans" pitchFamily="34" charset="0"/>
                <a:ea typeface="DM Sans" pitchFamily="34" charset="-122"/>
                <a:cs typeface="DM Sans" pitchFamily="34" charset="-120"/>
              </a:rPr>
              <a:t> Pr. AL SEMAA</a:t>
            </a:r>
            <a:endParaRPr lang="en-US" sz="1350" dirty="0"/>
          </a:p>
        </p:txBody>
      </p:sp>
      <p:sp>
        <p:nvSpPr>
          <p:cNvPr id="9" name="Shape 6"/>
          <p:cNvSpPr/>
          <p:nvPr/>
        </p:nvSpPr>
        <p:spPr>
          <a:xfrm>
            <a:off x="11457861" y="6869549"/>
            <a:ext cx="60960" cy="766763"/>
          </a:xfrm>
          <a:prstGeom prst="rect">
            <a:avLst/>
          </a:prstGeom>
          <a:solidFill>
            <a:srgbClr val="2A2A2A"/>
          </a:solidFill>
          <a:ln/>
        </p:spPr>
      </p:sp>
      <p:sp>
        <p:nvSpPr>
          <p:cNvPr id="10" name="Text 7"/>
          <p:cNvSpPr/>
          <p:nvPr/>
        </p:nvSpPr>
        <p:spPr>
          <a:xfrm>
            <a:off x="11764685" y="6900029"/>
            <a:ext cx="2071926" cy="235268"/>
          </a:xfrm>
          <a:prstGeom prst="rect">
            <a:avLst/>
          </a:prstGeom>
          <a:noFill/>
          <a:ln/>
        </p:spPr>
        <p:txBody>
          <a:bodyPr wrap="none" lIns="0" tIns="0" rIns="0" bIns="0" rtlCol="0" anchor="t"/>
          <a:lstStyle/>
          <a:p>
            <a:pPr marL="0" indent="0" algn="l">
              <a:lnSpc>
                <a:spcPts val="1850"/>
              </a:lnSpc>
              <a:buNone/>
            </a:pPr>
            <a:r>
              <a:rPr lang="en-US" sz="1350" b="1" dirty="0">
                <a:solidFill>
                  <a:srgbClr val="2A2A2A"/>
                </a:solidFill>
                <a:latin typeface="DM Sans" pitchFamily="34" charset="0"/>
                <a:ea typeface="DM Sans" pitchFamily="34" charset="-122"/>
                <a:cs typeface="DM Sans" pitchFamily="34" charset="-120"/>
              </a:rPr>
              <a:t>Date :</a:t>
            </a:r>
            <a:r>
              <a:rPr lang="en-US" sz="1350" dirty="0">
                <a:solidFill>
                  <a:srgbClr val="2A2A2A"/>
                </a:solidFill>
                <a:latin typeface="DM Sans" pitchFamily="34" charset="0"/>
                <a:ea typeface="DM Sans" pitchFamily="34" charset="-122"/>
                <a:cs typeface="DM Sans" pitchFamily="34" charset="-120"/>
              </a:rPr>
              <a:t> 14 Mars 2026</a:t>
            </a:r>
            <a:endParaRPr lang="en-US" sz="1350" dirty="0"/>
          </a:p>
        </p:txBody>
      </p:sp>
      <p:pic>
        <p:nvPicPr>
          <p:cNvPr id="1026" name="Picture 2" descr="Surface blanche à rayures rondes Couverture souple blanche | Vecteur Premium">
            <a:extLst>
              <a:ext uri="{FF2B5EF4-FFF2-40B4-BE49-F238E27FC236}">
                <a16:creationId xmlns:a16="http://schemas.microsoft.com/office/drawing/2014/main" id="{DD6C49DF-D76A-B738-4710-DC9B9F3A2C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00648" y="7595919"/>
            <a:ext cx="1748426" cy="63368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Les gens d'affaires et le travail d'équipe au bureau. Travail d'équipe  réussi réunion concept de lieu de travail. photo – Image de Bureau sur  Unsplash">
            <a:extLst>
              <a:ext uri="{FF2B5EF4-FFF2-40B4-BE49-F238E27FC236}">
                <a16:creationId xmlns:a16="http://schemas.microsoft.com/office/drawing/2014/main" id="{EC827946-5784-8783-0C89-CD3D770FF1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87" y="0"/>
            <a:ext cx="5486400" cy="822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Shape 0"/>
          <p:cNvSpPr/>
          <p:nvPr/>
        </p:nvSpPr>
        <p:spPr>
          <a:xfrm>
            <a:off x="773073" y="767239"/>
            <a:ext cx="1452443" cy="351949"/>
          </a:xfrm>
          <a:prstGeom prst="roundRect">
            <a:avLst>
              <a:gd name="adj" fmla="val 7155"/>
            </a:avLst>
          </a:prstGeom>
          <a:solidFill>
            <a:srgbClr val="E6E6E6"/>
          </a:solidFill>
          <a:ln/>
        </p:spPr>
      </p:sp>
      <p:sp>
        <p:nvSpPr>
          <p:cNvPr id="4" name="Text 1"/>
          <p:cNvSpPr/>
          <p:nvPr/>
        </p:nvSpPr>
        <p:spPr>
          <a:xfrm>
            <a:off x="898922" y="830104"/>
            <a:ext cx="1200745" cy="226219"/>
          </a:xfrm>
          <a:prstGeom prst="rect">
            <a:avLst/>
          </a:prstGeom>
          <a:noFill/>
          <a:ln/>
        </p:spPr>
        <p:txBody>
          <a:bodyPr wrap="none" lIns="0" tIns="0" rIns="0" bIns="0" rtlCol="0" anchor="t"/>
          <a:lstStyle/>
          <a:p>
            <a:pPr marL="0" indent="0" algn="l">
              <a:lnSpc>
                <a:spcPts val="1750"/>
              </a:lnSpc>
              <a:buNone/>
            </a:pPr>
            <a:r>
              <a:rPr lang="en-US" sz="1300" dirty="0">
                <a:solidFill>
                  <a:srgbClr val="2A2A2A"/>
                </a:solidFill>
                <a:latin typeface="DM Sans" pitchFamily="34" charset="0"/>
                <a:ea typeface="DM Sans" pitchFamily="34" charset="-122"/>
                <a:cs typeface="DM Sans" pitchFamily="34" charset="-120"/>
              </a:rPr>
              <a:t>INTRODUCTION</a:t>
            </a:r>
            <a:endParaRPr lang="en-US" sz="1300" dirty="0"/>
          </a:p>
        </p:txBody>
      </p:sp>
      <p:sp>
        <p:nvSpPr>
          <p:cNvPr id="5" name="Text 2"/>
          <p:cNvSpPr/>
          <p:nvPr/>
        </p:nvSpPr>
        <p:spPr>
          <a:xfrm>
            <a:off x="773073" y="1196816"/>
            <a:ext cx="6830258" cy="629483"/>
          </a:xfrm>
          <a:prstGeom prst="rect">
            <a:avLst/>
          </a:prstGeom>
          <a:noFill/>
          <a:ln/>
        </p:spPr>
        <p:txBody>
          <a:bodyPr wrap="none" lIns="0" tIns="0" rIns="0" bIns="0" rtlCol="0" anchor="t"/>
          <a:lstStyle/>
          <a:p>
            <a:pPr marL="0" indent="0" algn="l">
              <a:lnSpc>
                <a:spcPts val="4950"/>
              </a:lnSpc>
              <a:buNone/>
            </a:pPr>
            <a:r>
              <a:rPr lang="en-US" sz="4100" dirty="0">
                <a:solidFill>
                  <a:srgbClr val="171717"/>
                </a:solidFill>
                <a:latin typeface="Space Grotesk Medium" pitchFamily="34" charset="0"/>
                <a:ea typeface="Space Grotesk Medium" pitchFamily="34" charset="-122"/>
                <a:cs typeface="Space Grotesk Medium" pitchFamily="34" charset="-120"/>
              </a:rPr>
              <a:t>Contexte et Problématique</a:t>
            </a:r>
            <a:endParaRPr lang="en-US" sz="4100" dirty="0"/>
          </a:p>
        </p:txBody>
      </p:sp>
      <p:sp>
        <p:nvSpPr>
          <p:cNvPr id="6" name="Text 3"/>
          <p:cNvSpPr/>
          <p:nvPr/>
        </p:nvSpPr>
        <p:spPr>
          <a:xfrm>
            <a:off x="773073" y="1903928"/>
            <a:ext cx="2623066" cy="314682"/>
          </a:xfrm>
          <a:prstGeom prst="rect">
            <a:avLst/>
          </a:prstGeom>
          <a:noFill/>
          <a:ln/>
        </p:spPr>
        <p:txBody>
          <a:bodyPr wrap="none" lIns="0" tIns="0" rIns="0" bIns="0" rtlCol="0" anchor="t"/>
          <a:lstStyle/>
          <a:p>
            <a:pPr marL="0" indent="0" algn="l">
              <a:lnSpc>
                <a:spcPts val="2450"/>
              </a:lnSpc>
              <a:buNone/>
            </a:pPr>
            <a:r>
              <a:rPr lang="en-US" sz="2050" dirty="0">
                <a:solidFill>
                  <a:srgbClr val="171717"/>
                </a:solidFill>
                <a:latin typeface="Space Grotesk Medium" pitchFamily="34" charset="0"/>
                <a:ea typeface="Space Grotesk Medium" pitchFamily="34" charset="-122"/>
                <a:cs typeface="Space Grotesk Medium" pitchFamily="34" charset="-120"/>
              </a:rPr>
              <a:t>Le Risque Bancaire</a:t>
            </a:r>
            <a:endParaRPr lang="en-US" sz="2050" dirty="0"/>
          </a:p>
        </p:txBody>
      </p:sp>
      <p:sp>
        <p:nvSpPr>
          <p:cNvPr id="7" name="Text 4"/>
          <p:cNvSpPr/>
          <p:nvPr/>
        </p:nvSpPr>
        <p:spPr>
          <a:xfrm>
            <a:off x="773073" y="2509718"/>
            <a:ext cx="7597854" cy="1131094"/>
          </a:xfrm>
          <a:prstGeom prst="rect">
            <a:avLst/>
          </a:prstGeom>
          <a:noFill/>
          <a:ln/>
        </p:spPr>
        <p:txBody>
          <a:bodyPr wrap="square" lIns="0" tIns="0" rIns="0" bIns="0" rtlCol="0" anchor="t"/>
          <a:lstStyle/>
          <a:p>
            <a:pPr marL="0" indent="0" algn="l">
              <a:lnSpc>
                <a:spcPts val="2200"/>
              </a:lnSpc>
              <a:buNone/>
            </a:pPr>
            <a:r>
              <a:rPr lang="en-US" sz="1650" dirty="0">
                <a:solidFill>
                  <a:srgbClr val="2A2A2A"/>
                </a:solidFill>
                <a:latin typeface="DM Sans" pitchFamily="34" charset="0"/>
                <a:ea typeface="DM Sans" pitchFamily="34" charset="-122"/>
                <a:cs typeface="DM Sans" pitchFamily="34" charset="-120"/>
              </a:rPr>
              <a:t>Les établissements financiers font face à un défi majeur : évaluer la solvabilité des emprunteurs afin de minimiser le risque de défaut de paiement. Une mauvaise évaluation peut entraîner des pertes financières considérables et déstabiliser l'institution.</a:t>
            </a:r>
            <a:endParaRPr lang="en-US" sz="1650" dirty="0"/>
          </a:p>
        </p:txBody>
      </p:sp>
      <p:sp>
        <p:nvSpPr>
          <p:cNvPr id="8" name="Text 5"/>
          <p:cNvSpPr/>
          <p:nvPr/>
        </p:nvSpPr>
        <p:spPr>
          <a:xfrm>
            <a:off x="773073" y="3931920"/>
            <a:ext cx="3905726" cy="314682"/>
          </a:xfrm>
          <a:prstGeom prst="rect">
            <a:avLst/>
          </a:prstGeom>
          <a:noFill/>
          <a:ln/>
        </p:spPr>
        <p:txBody>
          <a:bodyPr wrap="none" lIns="0" tIns="0" rIns="0" bIns="0" rtlCol="0" anchor="t"/>
          <a:lstStyle/>
          <a:p>
            <a:pPr marL="0" indent="0" algn="l">
              <a:lnSpc>
                <a:spcPts val="2450"/>
              </a:lnSpc>
              <a:buNone/>
            </a:pPr>
            <a:r>
              <a:rPr lang="en-US" sz="2050" dirty="0">
                <a:solidFill>
                  <a:srgbClr val="171717"/>
                </a:solidFill>
                <a:latin typeface="Space Grotesk Medium" pitchFamily="34" charset="0"/>
                <a:ea typeface="Space Grotesk Medium" pitchFamily="34" charset="-122"/>
                <a:cs typeface="Space Grotesk Medium" pitchFamily="34" charset="-120"/>
              </a:rPr>
              <a:t>Pourquoi le Scoring de Crédit ?</a:t>
            </a:r>
            <a:endParaRPr lang="en-US" sz="2050" dirty="0"/>
          </a:p>
        </p:txBody>
      </p:sp>
      <p:sp>
        <p:nvSpPr>
          <p:cNvPr id="9" name="Text 6"/>
          <p:cNvSpPr/>
          <p:nvPr/>
        </p:nvSpPr>
        <p:spPr>
          <a:xfrm>
            <a:off x="773073" y="4537710"/>
            <a:ext cx="7597854" cy="1131094"/>
          </a:xfrm>
          <a:prstGeom prst="rect">
            <a:avLst/>
          </a:prstGeom>
          <a:noFill/>
          <a:ln/>
        </p:spPr>
        <p:txBody>
          <a:bodyPr wrap="square" lIns="0" tIns="0" rIns="0" bIns="0" rtlCol="0" anchor="t"/>
          <a:lstStyle/>
          <a:p>
            <a:pPr marL="0" indent="0" algn="l">
              <a:lnSpc>
                <a:spcPts val="2200"/>
              </a:lnSpc>
              <a:buNone/>
            </a:pPr>
            <a:r>
              <a:rPr lang="en-US" sz="1650" dirty="0">
                <a:solidFill>
                  <a:srgbClr val="2A2A2A"/>
                </a:solidFill>
                <a:latin typeface="DM Sans" pitchFamily="34" charset="0"/>
                <a:ea typeface="DM Sans" pitchFamily="34" charset="-122"/>
                <a:cs typeface="DM Sans" pitchFamily="34" charset="-120"/>
              </a:rPr>
              <a:t>Le scoring de crédit permet d'automatiser et d'objectiver la décision d'octroi de prêt. En s'appuyant sur des données historiques et des algorithmes de Machine Learning, il est possible de prédire avec fiabilité la probabilité de défaillance d'un client.</a:t>
            </a:r>
            <a:endParaRPr lang="en-US" sz="1650" dirty="0"/>
          </a:p>
        </p:txBody>
      </p:sp>
      <p:sp>
        <p:nvSpPr>
          <p:cNvPr id="10" name="Shape 7"/>
          <p:cNvSpPr/>
          <p:nvPr/>
        </p:nvSpPr>
        <p:spPr>
          <a:xfrm>
            <a:off x="773073" y="5887164"/>
            <a:ext cx="3701891" cy="1575078"/>
          </a:xfrm>
          <a:prstGeom prst="roundRect">
            <a:avLst>
              <a:gd name="adj" fmla="val 1998"/>
            </a:avLst>
          </a:prstGeom>
          <a:solidFill>
            <a:srgbClr val="FFFFFF"/>
          </a:solidFill>
          <a:ln w="22860">
            <a:solidFill>
              <a:srgbClr val="171717"/>
            </a:solidFill>
            <a:prstDash val="solid"/>
          </a:ln>
        </p:spPr>
      </p:sp>
      <p:sp>
        <p:nvSpPr>
          <p:cNvPr id="11" name="Text 8"/>
          <p:cNvSpPr/>
          <p:nvPr/>
        </p:nvSpPr>
        <p:spPr>
          <a:xfrm>
            <a:off x="1005721" y="6119812"/>
            <a:ext cx="2623066" cy="314682"/>
          </a:xfrm>
          <a:prstGeom prst="rect">
            <a:avLst/>
          </a:prstGeom>
          <a:noFill/>
          <a:ln/>
        </p:spPr>
        <p:txBody>
          <a:bodyPr wrap="none" lIns="0" tIns="0" rIns="0" bIns="0" rtlCol="0" anchor="t"/>
          <a:lstStyle/>
          <a:p>
            <a:pPr marL="0" indent="0" algn="l">
              <a:lnSpc>
                <a:spcPts val="2450"/>
              </a:lnSpc>
              <a:buNone/>
            </a:pPr>
            <a:r>
              <a:rPr lang="en-US" sz="2050" dirty="0">
                <a:solidFill>
                  <a:srgbClr val="2A2A2A"/>
                </a:solidFill>
                <a:latin typeface="Space Grotesk Medium" pitchFamily="34" charset="0"/>
                <a:ea typeface="Space Grotesk Medium" pitchFamily="34" charset="-122"/>
                <a:cs typeface="Space Grotesk Medium" pitchFamily="34" charset="-120"/>
              </a:rPr>
              <a:t>Problème Central</a:t>
            </a:r>
            <a:endParaRPr lang="en-US" sz="2050" dirty="0"/>
          </a:p>
        </p:txBody>
      </p:sp>
      <p:sp>
        <p:nvSpPr>
          <p:cNvPr id="12" name="Text 9"/>
          <p:cNvSpPr/>
          <p:nvPr/>
        </p:nvSpPr>
        <p:spPr>
          <a:xfrm>
            <a:off x="1005721" y="6550938"/>
            <a:ext cx="3236595" cy="678656"/>
          </a:xfrm>
          <a:prstGeom prst="rect">
            <a:avLst/>
          </a:prstGeom>
          <a:noFill/>
          <a:ln/>
        </p:spPr>
        <p:txBody>
          <a:bodyPr wrap="square" lIns="0" tIns="0" rIns="0" bIns="0" rtlCol="0" anchor="t"/>
          <a:lstStyle/>
          <a:p>
            <a:pPr marL="0" indent="0" algn="l">
              <a:lnSpc>
                <a:spcPts val="1750"/>
              </a:lnSpc>
              <a:buNone/>
            </a:pPr>
            <a:r>
              <a:rPr lang="en-US" sz="1300" dirty="0">
                <a:solidFill>
                  <a:srgbClr val="2A2A2A"/>
                </a:solidFill>
                <a:latin typeface="DM Sans" pitchFamily="34" charset="0"/>
                <a:ea typeface="DM Sans" pitchFamily="34" charset="-122"/>
                <a:cs typeface="DM Sans" pitchFamily="34" charset="-120"/>
              </a:rPr>
              <a:t>Comment prédire automatiquement si un client sera en mesure de rembourser son crédit ?</a:t>
            </a:r>
            <a:endParaRPr lang="en-US" sz="1300" dirty="0"/>
          </a:p>
        </p:txBody>
      </p:sp>
      <p:sp>
        <p:nvSpPr>
          <p:cNvPr id="13" name="Shape 10"/>
          <p:cNvSpPr/>
          <p:nvPr/>
        </p:nvSpPr>
        <p:spPr>
          <a:xfrm>
            <a:off x="4669036" y="5887164"/>
            <a:ext cx="3701891" cy="1575078"/>
          </a:xfrm>
          <a:prstGeom prst="roundRect">
            <a:avLst>
              <a:gd name="adj" fmla="val 1998"/>
            </a:avLst>
          </a:prstGeom>
          <a:solidFill>
            <a:srgbClr val="FFFFFF"/>
          </a:solidFill>
          <a:ln w="22860">
            <a:solidFill>
              <a:srgbClr val="4A5F73"/>
            </a:solidFill>
            <a:prstDash val="solid"/>
          </a:ln>
        </p:spPr>
      </p:sp>
      <p:sp>
        <p:nvSpPr>
          <p:cNvPr id="14" name="Text 11"/>
          <p:cNvSpPr/>
          <p:nvPr/>
        </p:nvSpPr>
        <p:spPr>
          <a:xfrm>
            <a:off x="4901684" y="6119812"/>
            <a:ext cx="2623066" cy="314682"/>
          </a:xfrm>
          <a:prstGeom prst="rect">
            <a:avLst/>
          </a:prstGeom>
          <a:noFill/>
          <a:ln/>
        </p:spPr>
        <p:txBody>
          <a:bodyPr wrap="none" lIns="0" tIns="0" rIns="0" bIns="0" rtlCol="0" anchor="t"/>
          <a:lstStyle/>
          <a:p>
            <a:pPr marL="0" indent="0" algn="l">
              <a:lnSpc>
                <a:spcPts val="2450"/>
              </a:lnSpc>
              <a:buNone/>
            </a:pPr>
            <a:r>
              <a:rPr lang="en-US" sz="2050" dirty="0">
                <a:solidFill>
                  <a:srgbClr val="2A2A2A"/>
                </a:solidFill>
                <a:latin typeface="Space Grotesk Medium" pitchFamily="34" charset="0"/>
                <a:ea typeface="Space Grotesk Medium" pitchFamily="34" charset="-122"/>
                <a:cs typeface="Space Grotesk Medium" pitchFamily="34" charset="-120"/>
              </a:rPr>
              <a:t>Enjeux</a:t>
            </a:r>
            <a:endParaRPr lang="en-US" sz="2050" dirty="0"/>
          </a:p>
        </p:txBody>
      </p:sp>
      <p:sp>
        <p:nvSpPr>
          <p:cNvPr id="15" name="Text 12"/>
          <p:cNvSpPr/>
          <p:nvPr/>
        </p:nvSpPr>
        <p:spPr>
          <a:xfrm>
            <a:off x="4901684" y="6550938"/>
            <a:ext cx="3236595" cy="678656"/>
          </a:xfrm>
          <a:prstGeom prst="rect">
            <a:avLst/>
          </a:prstGeom>
          <a:noFill/>
          <a:ln/>
        </p:spPr>
        <p:txBody>
          <a:bodyPr wrap="square" lIns="0" tIns="0" rIns="0" bIns="0" rtlCol="0" anchor="t"/>
          <a:lstStyle/>
          <a:p>
            <a:pPr marL="0" indent="0" algn="l">
              <a:lnSpc>
                <a:spcPts val="1750"/>
              </a:lnSpc>
              <a:buNone/>
            </a:pPr>
            <a:r>
              <a:rPr lang="en-US" sz="1300" dirty="0">
                <a:solidFill>
                  <a:srgbClr val="2A2A2A"/>
                </a:solidFill>
                <a:latin typeface="DM Sans" pitchFamily="34" charset="0"/>
                <a:ea typeface="DM Sans" pitchFamily="34" charset="-122"/>
                <a:cs typeface="DM Sans" pitchFamily="34" charset="-120"/>
              </a:rPr>
              <a:t>Réduire le risque de non-remboursement tout en préservant l'accès au crédit pour les clients solvables.</a:t>
            </a:r>
            <a:endParaRPr lang="en-US" sz="1300" dirty="0"/>
          </a:p>
        </p:txBody>
      </p:sp>
      <p:pic>
        <p:nvPicPr>
          <p:cNvPr id="10242" name="Picture 2" descr="Surface blanche à rayures rondes Couverture souple blanche | Vecteur Premium">
            <a:extLst>
              <a:ext uri="{FF2B5EF4-FFF2-40B4-BE49-F238E27FC236}">
                <a16:creationId xmlns:a16="http://schemas.microsoft.com/office/drawing/2014/main" id="{D3F2BD98-3066-97A2-A45E-7EFE1EF084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67750" y="7696926"/>
            <a:ext cx="5962650" cy="4402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Shape 0"/>
          <p:cNvSpPr/>
          <p:nvPr/>
        </p:nvSpPr>
        <p:spPr>
          <a:xfrm>
            <a:off x="671393" y="715146"/>
            <a:ext cx="1069658" cy="339566"/>
          </a:xfrm>
          <a:prstGeom prst="roundRect">
            <a:avLst>
              <a:gd name="adj" fmla="val 7214"/>
            </a:avLst>
          </a:prstGeom>
          <a:solidFill>
            <a:srgbClr val="E6E6E6"/>
          </a:solidFill>
          <a:ln/>
        </p:spPr>
      </p:sp>
      <p:sp>
        <p:nvSpPr>
          <p:cNvPr id="4" name="Text 1"/>
          <p:cNvSpPr/>
          <p:nvPr/>
        </p:nvSpPr>
        <p:spPr>
          <a:xfrm>
            <a:off x="793790" y="776344"/>
            <a:ext cx="824865" cy="217170"/>
          </a:xfrm>
          <a:prstGeom prst="rect">
            <a:avLst/>
          </a:prstGeom>
          <a:noFill/>
          <a:ln/>
        </p:spPr>
        <p:txBody>
          <a:bodyPr wrap="none" lIns="0" tIns="0" rIns="0" bIns="0" rtlCol="0" anchor="t"/>
          <a:lstStyle/>
          <a:p>
            <a:pPr marL="0" indent="0" algn="l">
              <a:lnSpc>
                <a:spcPts val="1700"/>
              </a:lnSpc>
              <a:buNone/>
            </a:pPr>
            <a:r>
              <a:rPr lang="en-US" sz="1250" dirty="0">
                <a:solidFill>
                  <a:srgbClr val="2A2A2A"/>
                </a:solidFill>
                <a:latin typeface="DM Sans" pitchFamily="34" charset="0"/>
                <a:ea typeface="DM Sans" pitchFamily="34" charset="-122"/>
                <a:cs typeface="DM Sans" pitchFamily="34" charset="-120"/>
              </a:rPr>
              <a:t>OBJECTIFS</a:t>
            </a:r>
            <a:endParaRPr lang="en-US" sz="1250" dirty="0"/>
          </a:p>
        </p:txBody>
      </p:sp>
      <p:sp>
        <p:nvSpPr>
          <p:cNvPr id="5" name="Text 2"/>
          <p:cNvSpPr/>
          <p:nvPr/>
        </p:nvSpPr>
        <p:spPr>
          <a:xfrm>
            <a:off x="671393" y="1391659"/>
            <a:ext cx="5103614" cy="612458"/>
          </a:xfrm>
          <a:prstGeom prst="rect">
            <a:avLst/>
          </a:prstGeom>
          <a:noFill/>
          <a:ln/>
        </p:spPr>
        <p:txBody>
          <a:bodyPr wrap="none" lIns="0" tIns="0" rIns="0" bIns="0" rtlCol="0" anchor="t"/>
          <a:lstStyle/>
          <a:p>
            <a:pPr marL="0" indent="0" algn="l">
              <a:lnSpc>
                <a:spcPts val="4800"/>
              </a:lnSpc>
              <a:buNone/>
            </a:pPr>
            <a:r>
              <a:rPr lang="en-US" sz="4000" dirty="0">
                <a:solidFill>
                  <a:srgbClr val="171717"/>
                </a:solidFill>
                <a:latin typeface="Space Grotesk Medium" pitchFamily="34" charset="0"/>
                <a:ea typeface="Space Grotesk Medium" pitchFamily="34" charset="-122"/>
                <a:cs typeface="Space Grotesk Medium" pitchFamily="34" charset="-120"/>
              </a:rPr>
              <a:t>Objectifs du Projet</a:t>
            </a:r>
            <a:endParaRPr lang="en-US" sz="4000" dirty="0"/>
          </a:p>
        </p:txBody>
      </p:sp>
      <p:sp>
        <p:nvSpPr>
          <p:cNvPr id="6" name="Shape 3"/>
          <p:cNvSpPr/>
          <p:nvPr/>
        </p:nvSpPr>
        <p:spPr>
          <a:xfrm>
            <a:off x="770930" y="2329814"/>
            <a:ext cx="6429494" cy="1304449"/>
          </a:xfrm>
          <a:prstGeom prst="roundRect">
            <a:avLst>
              <a:gd name="adj" fmla="val 8412"/>
            </a:avLst>
          </a:prstGeom>
          <a:solidFill>
            <a:srgbClr val="FFFFFF"/>
          </a:solidFill>
          <a:ln w="22860">
            <a:solidFill>
              <a:srgbClr val="171717"/>
            </a:solidFill>
            <a:prstDash val="solid"/>
          </a:ln>
        </p:spPr>
      </p:sp>
      <p:sp>
        <p:nvSpPr>
          <p:cNvPr id="7" name="Shape 4"/>
          <p:cNvSpPr/>
          <p:nvPr/>
        </p:nvSpPr>
        <p:spPr>
          <a:xfrm>
            <a:off x="759500" y="2329814"/>
            <a:ext cx="68580" cy="1304449"/>
          </a:xfrm>
          <a:prstGeom prst="roundRect">
            <a:avLst>
              <a:gd name="adj" fmla="val 33488"/>
            </a:avLst>
          </a:prstGeom>
          <a:solidFill>
            <a:srgbClr val="171717"/>
          </a:solidFill>
          <a:ln/>
        </p:spPr>
      </p:sp>
      <p:sp>
        <p:nvSpPr>
          <p:cNvPr id="8" name="Text 5"/>
          <p:cNvSpPr/>
          <p:nvPr/>
        </p:nvSpPr>
        <p:spPr>
          <a:xfrm>
            <a:off x="1089303" y="2463760"/>
            <a:ext cx="2551748" cy="306110"/>
          </a:xfrm>
          <a:prstGeom prst="rect">
            <a:avLst/>
          </a:prstGeom>
          <a:noFill/>
          <a:ln/>
        </p:spPr>
        <p:txBody>
          <a:bodyPr wrap="none" lIns="0" tIns="0" rIns="0" bIns="0" rtlCol="0" anchor="t"/>
          <a:lstStyle/>
          <a:p>
            <a:pPr marL="0" indent="0" algn="l">
              <a:lnSpc>
                <a:spcPts val="2400"/>
              </a:lnSpc>
              <a:buNone/>
            </a:pPr>
            <a:r>
              <a:rPr lang="en-US" sz="2000" dirty="0">
                <a:solidFill>
                  <a:srgbClr val="2A2A2A"/>
                </a:solidFill>
                <a:latin typeface="Space Grotesk Medium" pitchFamily="34" charset="0"/>
                <a:ea typeface="Space Grotesk Medium" pitchFamily="34" charset="-122"/>
                <a:cs typeface="Space Grotesk Medium" pitchFamily="34" charset="-120"/>
              </a:rPr>
              <a:t>Objectif Principal</a:t>
            </a:r>
            <a:endParaRPr lang="en-US" sz="2000" dirty="0"/>
          </a:p>
        </p:txBody>
      </p:sp>
      <p:sp>
        <p:nvSpPr>
          <p:cNvPr id="9" name="Text 6"/>
          <p:cNvSpPr/>
          <p:nvPr/>
        </p:nvSpPr>
        <p:spPr>
          <a:xfrm>
            <a:off x="1032153" y="2903816"/>
            <a:ext cx="5907048" cy="434340"/>
          </a:xfrm>
          <a:prstGeom prst="rect">
            <a:avLst/>
          </a:prstGeom>
          <a:noFill/>
          <a:ln/>
        </p:spPr>
        <p:txBody>
          <a:bodyPr wrap="square" lIns="0" tIns="0" rIns="0" bIns="0" rtlCol="0" anchor="t"/>
          <a:lstStyle/>
          <a:p>
            <a:pPr marL="0" indent="0" algn="l">
              <a:lnSpc>
                <a:spcPts val="1700"/>
              </a:lnSpc>
              <a:buNone/>
            </a:pPr>
            <a:r>
              <a:rPr lang="en-US" sz="1250" dirty="0">
                <a:solidFill>
                  <a:srgbClr val="2A2A2A"/>
                </a:solidFill>
                <a:latin typeface="DM Sans" pitchFamily="34" charset="0"/>
                <a:ea typeface="DM Sans" pitchFamily="34" charset="-122"/>
                <a:cs typeface="DM Sans" pitchFamily="34" charset="-120"/>
              </a:rPr>
              <a:t>Construire un modèle de scoring capable de classer automatiquement les demandes de crédit en deux catégories : client </a:t>
            </a:r>
            <a:r>
              <a:rPr lang="en-US" sz="1250" b="1" dirty="0">
                <a:solidFill>
                  <a:srgbClr val="2A2A2A"/>
                </a:solidFill>
                <a:latin typeface="DM Sans" pitchFamily="34" charset="0"/>
                <a:ea typeface="DM Sans" pitchFamily="34" charset="-122"/>
                <a:cs typeface="DM Sans" pitchFamily="34" charset="-120"/>
              </a:rPr>
              <a:t>solvable</a:t>
            </a:r>
            <a:r>
              <a:rPr lang="en-US" sz="1250" dirty="0">
                <a:solidFill>
                  <a:srgbClr val="2A2A2A"/>
                </a:solidFill>
                <a:latin typeface="DM Sans" pitchFamily="34" charset="0"/>
                <a:ea typeface="DM Sans" pitchFamily="34" charset="-122"/>
                <a:cs typeface="DM Sans" pitchFamily="34" charset="-120"/>
              </a:rPr>
              <a:t> ou </a:t>
            </a:r>
            <a:r>
              <a:rPr lang="en-US" sz="1250" b="1" dirty="0">
                <a:solidFill>
                  <a:srgbClr val="2A2A2A"/>
                </a:solidFill>
                <a:latin typeface="DM Sans" pitchFamily="34" charset="0"/>
                <a:ea typeface="DM Sans" pitchFamily="34" charset="-122"/>
                <a:cs typeface="DM Sans" pitchFamily="34" charset="-120"/>
              </a:rPr>
              <a:t>non solvable</a:t>
            </a:r>
            <a:r>
              <a:rPr lang="en-US" sz="1250" dirty="0">
                <a:solidFill>
                  <a:srgbClr val="2A2A2A"/>
                </a:solidFill>
                <a:latin typeface="DM Sans" pitchFamily="34" charset="0"/>
                <a:ea typeface="DM Sans" pitchFamily="34" charset="-122"/>
                <a:cs typeface="DM Sans" pitchFamily="34" charset="-120"/>
              </a:rPr>
              <a:t>.</a:t>
            </a:r>
            <a:endParaRPr lang="en-US" sz="1250" dirty="0"/>
          </a:p>
        </p:txBody>
      </p:sp>
      <p:sp>
        <p:nvSpPr>
          <p:cNvPr id="10" name="Shape 7"/>
          <p:cNvSpPr/>
          <p:nvPr/>
        </p:nvSpPr>
        <p:spPr>
          <a:xfrm>
            <a:off x="806037" y="4372629"/>
            <a:ext cx="6429613" cy="1304449"/>
          </a:xfrm>
          <a:prstGeom prst="roundRect">
            <a:avLst>
              <a:gd name="adj" fmla="val 8412"/>
            </a:avLst>
          </a:prstGeom>
          <a:solidFill>
            <a:srgbClr val="FFFFFF"/>
          </a:solidFill>
          <a:ln w="22860">
            <a:solidFill>
              <a:srgbClr val="4A5F73"/>
            </a:solidFill>
            <a:prstDash val="solid"/>
          </a:ln>
        </p:spPr>
      </p:sp>
      <p:sp>
        <p:nvSpPr>
          <p:cNvPr id="11" name="Shape 8"/>
          <p:cNvSpPr/>
          <p:nvPr/>
        </p:nvSpPr>
        <p:spPr>
          <a:xfrm>
            <a:off x="766920" y="4372628"/>
            <a:ext cx="91440" cy="1304449"/>
          </a:xfrm>
          <a:prstGeom prst="roundRect">
            <a:avLst>
              <a:gd name="adj" fmla="val 33488"/>
            </a:avLst>
          </a:prstGeom>
          <a:solidFill>
            <a:srgbClr val="4A5F73"/>
          </a:solidFill>
          <a:ln/>
        </p:spPr>
      </p:sp>
      <p:sp>
        <p:nvSpPr>
          <p:cNvPr id="12" name="Text 9"/>
          <p:cNvSpPr/>
          <p:nvPr/>
        </p:nvSpPr>
        <p:spPr>
          <a:xfrm>
            <a:off x="1022867" y="4481381"/>
            <a:ext cx="2618184" cy="306110"/>
          </a:xfrm>
          <a:prstGeom prst="rect">
            <a:avLst/>
          </a:prstGeom>
          <a:noFill/>
          <a:ln/>
        </p:spPr>
        <p:txBody>
          <a:bodyPr wrap="none" lIns="0" tIns="0" rIns="0" bIns="0" rtlCol="0" anchor="t"/>
          <a:lstStyle/>
          <a:p>
            <a:pPr marL="0" indent="0" algn="l">
              <a:lnSpc>
                <a:spcPts val="2400"/>
              </a:lnSpc>
              <a:buNone/>
            </a:pPr>
            <a:r>
              <a:rPr lang="en-US" sz="2000" dirty="0">
                <a:solidFill>
                  <a:srgbClr val="2A2A2A"/>
                </a:solidFill>
                <a:latin typeface="Space Grotesk Medium" pitchFamily="34" charset="0"/>
                <a:ea typeface="Space Grotesk Medium" pitchFamily="34" charset="-122"/>
                <a:cs typeface="Space Grotesk Medium" pitchFamily="34" charset="-120"/>
              </a:rPr>
              <a:t>Analyse des Données</a:t>
            </a:r>
            <a:endParaRPr lang="en-US" sz="2000" dirty="0"/>
          </a:p>
        </p:txBody>
      </p:sp>
      <p:sp>
        <p:nvSpPr>
          <p:cNvPr id="13" name="Text 10"/>
          <p:cNvSpPr/>
          <p:nvPr/>
        </p:nvSpPr>
        <p:spPr>
          <a:xfrm>
            <a:off x="1022867" y="4996327"/>
            <a:ext cx="5907167" cy="434340"/>
          </a:xfrm>
          <a:prstGeom prst="rect">
            <a:avLst/>
          </a:prstGeom>
          <a:noFill/>
          <a:ln/>
        </p:spPr>
        <p:txBody>
          <a:bodyPr wrap="square" lIns="0" tIns="0" rIns="0" bIns="0" rtlCol="0" anchor="t"/>
          <a:lstStyle/>
          <a:p>
            <a:pPr marL="0" indent="0" algn="l">
              <a:lnSpc>
                <a:spcPts val="1700"/>
              </a:lnSpc>
              <a:buNone/>
            </a:pPr>
            <a:r>
              <a:rPr lang="en-US" sz="1250" dirty="0">
                <a:solidFill>
                  <a:srgbClr val="2A2A2A"/>
                </a:solidFill>
                <a:latin typeface="DM Sans" pitchFamily="34" charset="0"/>
                <a:ea typeface="DM Sans" pitchFamily="34" charset="-122"/>
                <a:cs typeface="DM Sans" pitchFamily="34" charset="-120"/>
              </a:rPr>
              <a:t>Explorer et préparer le dataset German Credit afin d'identifier les variables les plus prédictives du risque de défaut.</a:t>
            </a:r>
            <a:endParaRPr lang="en-US" sz="1250" dirty="0"/>
          </a:p>
        </p:txBody>
      </p:sp>
      <p:sp>
        <p:nvSpPr>
          <p:cNvPr id="14" name="Shape 11"/>
          <p:cNvSpPr/>
          <p:nvPr/>
        </p:nvSpPr>
        <p:spPr>
          <a:xfrm>
            <a:off x="793790" y="6133028"/>
            <a:ext cx="6429494" cy="1304449"/>
          </a:xfrm>
          <a:prstGeom prst="roundRect">
            <a:avLst>
              <a:gd name="adj" fmla="val 8412"/>
            </a:avLst>
          </a:prstGeom>
          <a:solidFill>
            <a:srgbClr val="FFFFFF"/>
          </a:solidFill>
          <a:ln w="22860">
            <a:solidFill>
              <a:srgbClr val="4A5F73"/>
            </a:solidFill>
            <a:prstDash val="solid"/>
          </a:ln>
        </p:spPr>
      </p:sp>
      <p:sp>
        <p:nvSpPr>
          <p:cNvPr id="15" name="Shape 12"/>
          <p:cNvSpPr/>
          <p:nvPr/>
        </p:nvSpPr>
        <p:spPr>
          <a:xfrm>
            <a:off x="770930" y="6133028"/>
            <a:ext cx="91440" cy="1304449"/>
          </a:xfrm>
          <a:prstGeom prst="roundRect">
            <a:avLst>
              <a:gd name="adj" fmla="val 33488"/>
            </a:avLst>
          </a:prstGeom>
          <a:solidFill>
            <a:srgbClr val="4A5F73"/>
          </a:solidFill>
          <a:ln/>
        </p:spPr>
      </p:sp>
      <p:sp>
        <p:nvSpPr>
          <p:cNvPr id="16" name="Text 13"/>
          <p:cNvSpPr/>
          <p:nvPr/>
        </p:nvSpPr>
        <p:spPr>
          <a:xfrm>
            <a:off x="1089303" y="6359962"/>
            <a:ext cx="2605207" cy="306110"/>
          </a:xfrm>
          <a:prstGeom prst="rect">
            <a:avLst/>
          </a:prstGeom>
          <a:noFill/>
          <a:ln/>
        </p:spPr>
        <p:txBody>
          <a:bodyPr wrap="none" lIns="0" tIns="0" rIns="0" bIns="0" rtlCol="0" anchor="t"/>
          <a:lstStyle/>
          <a:p>
            <a:pPr marL="0" indent="0" algn="l">
              <a:lnSpc>
                <a:spcPts val="2400"/>
              </a:lnSpc>
              <a:buNone/>
            </a:pPr>
            <a:r>
              <a:rPr lang="en-US" sz="2000" dirty="0">
                <a:solidFill>
                  <a:srgbClr val="2A2A2A"/>
                </a:solidFill>
                <a:latin typeface="Space Grotesk Medium" pitchFamily="34" charset="0"/>
                <a:ea typeface="Space Grotesk Medium" pitchFamily="34" charset="-122"/>
                <a:cs typeface="Space Grotesk Medium" pitchFamily="34" charset="-120"/>
              </a:rPr>
              <a:t>Optimisation du Seuil</a:t>
            </a:r>
            <a:endParaRPr lang="en-US" sz="2000" dirty="0"/>
          </a:p>
        </p:txBody>
      </p:sp>
      <p:sp>
        <p:nvSpPr>
          <p:cNvPr id="17" name="Text 14"/>
          <p:cNvSpPr/>
          <p:nvPr/>
        </p:nvSpPr>
        <p:spPr>
          <a:xfrm>
            <a:off x="1089303" y="6776204"/>
            <a:ext cx="5907048" cy="434340"/>
          </a:xfrm>
          <a:prstGeom prst="rect">
            <a:avLst/>
          </a:prstGeom>
          <a:noFill/>
          <a:ln/>
        </p:spPr>
        <p:txBody>
          <a:bodyPr wrap="square" lIns="0" tIns="0" rIns="0" bIns="0" rtlCol="0" anchor="t"/>
          <a:lstStyle/>
          <a:p>
            <a:pPr marL="0" indent="0" algn="l">
              <a:lnSpc>
                <a:spcPts val="1700"/>
              </a:lnSpc>
              <a:buNone/>
            </a:pPr>
            <a:r>
              <a:rPr lang="en-US" sz="1250" dirty="0">
                <a:solidFill>
                  <a:srgbClr val="2A2A2A"/>
                </a:solidFill>
                <a:latin typeface="DM Sans" pitchFamily="34" charset="0"/>
                <a:ea typeface="DM Sans" pitchFamily="34" charset="-122"/>
                <a:cs typeface="DM Sans" pitchFamily="34" charset="-120"/>
              </a:rPr>
              <a:t>Ajuster le seuil de décision du modèle pour adapter la stratégie de risque selon les priorités métier de la banque.</a:t>
            </a:r>
            <a:endParaRPr lang="en-US" sz="1250" dirty="0"/>
          </a:p>
        </p:txBody>
      </p:sp>
      <p:sp>
        <p:nvSpPr>
          <p:cNvPr id="18" name="Shape 15"/>
          <p:cNvSpPr/>
          <p:nvPr/>
        </p:nvSpPr>
        <p:spPr>
          <a:xfrm>
            <a:off x="7702510" y="4344102"/>
            <a:ext cx="6429613" cy="1304449"/>
          </a:xfrm>
          <a:prstGeom prst="roundRect">
            <a:avLst>
              <a:gd name="adj" fmla="val 8412"/>
            </a:avLst>
          </a:prstGeom>
          <a:solidFill>
            <a:srgbClr val="FFFFFF"/>
          </a:solidFill>
          <a:ln w="22860">
            <a:solidFill>
              <a:srgbClr val="B5B5B5"/>
            </a:solidFill>
            <a:prstDash val="solid"/>
          </a:ln>
        </p:spPr>
      </p:sp>
      <p:sp>
        <p:nvSpPr>
          <p:cNvPr id="19" name="Shape 16"/>
          <p:cNvSpPr/>
          <p:nvPr/>
        </p:nvSpPr>
        <p:spPr>
          <a:xfrm>
            <a:off x="7611070" y="4344101"/>
            <a:ext cx="91440" cy="1304449"/>
          </a:xfrm>
          <a:prstGeom prst="roundRect">
            <a:avLst>
              <a:gd name="adj" fmla="val 33488"/>
            </a:avLst>
          </a:prstGeom>
          <a:solidFill>
            <a:srgbClr val="B5B5B5"/>
          </a:solidFill>
          <a:ln/>
        </p:spPr>
      </p:sp>
      <p:sp>
        <p:nvSpPr>
          <p:cNvPr id="20" name="Text 17"/>
          <p:cNvSpPr/>
          <p:nvPr/>
        </p:nvSpPr>
        <p:spPr>
          <a:xfrm>
            <a:off x="7793950" y="4481381"/>
            <a:ext cx="2819995" cy="306110"/>
          </a:xfrm>
          <a:prstGeom prst="rect">
            <a:avLst/>
          </a:prstGeom>
          <a:noFill/>
          <a:ln/>
        </p:spPr>
        <p:txBody>
          <a:bodyPr wrap="none" lIns="0" tIns="0" rIns="0" bIns="0" rtlCol="0" anchor="t"/>
          <a:lstStyle/>
          <a:p>
            <a:pPr marL="0" indent="0" algn="l">
              <a:lnSpc>
                <a:spcPts val="2400"/>
              </a:lnSpc>
              <a:buNone/>
            </a:pPr>
            <a:r>
              <a:rPr lang="en-US" sz="2000" dirty="0">
                <a:solidFill>
                  <a:srgbClr val="2A2A2A"/>
                </a:solidFill>
                <a:latin typeface="Space Grotesk Medium" pitchFamily="34" charset="0"/>
                <a:ea typeface="Space Grotesk Medium" pitchFamily="34" charset="-122"/>
                <a:cs typeface="Space Grotesk Medium" pitchFamily="34" charset="-120"/>
              </a:rPr>
              <a:t>Déploiement Applicatif</a:t>
            </a:r>
            <a:endParaRPr lang="en-US" sz="2000" dirty="0"/>
          </a:p>
        </p:txBody>
      </p:sp>
      <p:sp>
        <p:nvSpPr>
          <p:cNvPr id="21" name="Text 18"/>
          <p:cNvSpPr/>
          <p:nvPr/>
        </p:nvSpPr>
        <p:spPr>
          <a:xfrm>
            <a:off x="7793950" y="4996325"/>
            <a:ext cx="5907167" cy="434340"/>
          </a:xfrm>
          <a:prstGeom prst="rect">
            <a:avLst/>
          </a:prstGeom>
          <a:noFill/>
          <a:ln/>
        </p:spPr>
        <p:txBody>
          <a:bodyPr wrap="square" lIns="0" tIns="0" rIns="0" bIns="0" rtlCol="0" anchor="t"/>
          <a:lstStyle/>
          <a:p>
            <a:pPr marL="0" indent="0" algn="l">
              <a:lnSpc>
                <a:spcPts val="1700"/>
              </a:lnSpc>
              <a:buNone/>
            </a:pPr>
            <a:r>
              <a:rPr lang="en-US" sz="1250" dirty="0">
                <a:solidFill>
                  <a:srgbClr val="2A2A2A"/>
                </a:solidFill>
                <a:latin typeface="DM Sans" pitchFamily="34" charset="0"/>
                <a:ea typeface="DM Sans" pitchFamily="34" charset="-122"/>
                <a:cs typeface="DM Sans" pitchFamily="34" charset="-120"/>
              </a:rPr>
              <a:t>Développer une interface interactive avec Streamlit permettant aux conseillers bancaires d'utiliser le modèle en temps réel.</a:t>
            </a:r>
            <a:endParaRPr lang="en-US" sz="1250" dirty="0"/>
          </a:p>
        </p:txBody>
      </p:sp>
      <p:pic>
        <p:nvPicPr>
          <p:cNvPr id="2050" name="Picture 2" descr="Surface blanche à rayures rondes Couverture souple blanche | Vecteur Premium">
            <a:extLst>
              <a:ext uri="{FF2B5EF4-FFF2-40B4-BE49-F238E27FC236}">
                <a16:creationId xmlns:a16="http://schemas.microsoft.com/office/drawing/2014/main" id="{1C5D00B4-BF10-1385-20DC-D3E97ACD89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69428" y="7632939"/>
            <a:ext cx="3073241" cy="4987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93790" y="685324"/>
            <a:ext cx="933450" cy="315158"/>
          </a:xfrm>
          <a:prstGeom prst="roundRect">
            <a:avLst>
              <a:gd name="adj" fmla="val 7341"/>
            </a:avLst>
          </a:prstGeom>
          <a:solidFill>
            <a:srgbClr val="E6E6E6"/>
          </a:solidFill>
          <a:ln/>
        </p:spPr>
      </p:sp>
      <p:sp>
        <p:nvSpPr>
          <p:cNvPr id="3" name="Text 1"/>
          <p:cNvSpPr/>
          <p:nvPr/>
        </p:nvSpPr>
        <p:spPr>
          <a:xfrm>
            <a:off x="909399" y="743069"/>
            <a:ext cx="702231" cy="199668"/>
          </a:xfrm>
          <a:prstGeom prst="rect">
            <a:avLst/>
          </a:prstGeom>
          <a:noFill/>
          <a:ln/>
        </p:spPr>
        <p:txBody>
          <a:bodyPr wrap="non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DONNÉES</a:t>
            </a:r>
            <a:endParaRPr lang="en-US" sz="1200" dirty="0"/>
          </a:p>
        </p:txBody>
      </p:sp>
      <p:sp>
        <p:nvSpPr>
          <p:cNvPr id="4" name="Text 2"/>
          <p:cNvSpPr/>
          <p:nvPr/>
        </p:nvSpPr>
        <p:spPr>
          <a:xfrm>
            <a:off x="793790" y="1065967"/>
            <a:ext cx="9641324" cy="578287"/>
          </a:xfrm>
          <a:prstGeom prst="rect">
            <a:avLst/>
          </a:prstGeom>
          <a:noFill/>
          <a:ln/>
        </p:spPr>
        <p:txBody>
          <a:bodyPr wrap="none" lIns="0" tIns="0" rIns="0" bIns="0" rtlCol="0" anchor="t"/>
          <a:lstStyle/>
          <a:p>
            <a:pPr marL="0" indent="0" algn="l">
              <a:lnSpc>
                <a:spcPts val="4550"/>
              </a:lnSpc>
              <a:buNone/>
            </a:pPr>
            <a:r>
              <a:rPr lang="en-US" sz="3750" dirty="0">
                <a:solidFill>
                  <a:srgbClr val="171717"/>
                </a:solidFill>
                <a:latin typeface="Space Grotesk Medium" pitchFamily="34" charset="0"/>
                <a:ea typeface="Space Grotesk Medium" pitchFamily="34" charset="-122"/>
                <a:cs typeface="Space Grotesk Medium" pitchFamily="34" charset="-120"/>
              </a:rPr>
              <a:t>Présentation du Dataset — German Credit</a:t>
            </a:r>
            <a:endParaRPr lang="en-US" sz="3750" dirty="0"/>
          </a:p>
        </p:txBody>
      </p:sp>
      <p:sp>
        <p:nvSpPr>
          <p:cNvPr id="5" name="Text 3"/>
          <p:cNvSpPr/>
          <p:nvPr/>
        </p:nvSpPr>
        <p:spPr>
          <a:xfrm>
            <a:off x="793790" y="2053828"/>
            <a:ext cx="2680335" cy="289084"/>
          </a:xfrm>
          <a:prstGeom prst="rect">
            <a:avLst/>
          </a:prstGeom>
          <a:noFill/>
          <a:ln/>
        </p:spPr>
        <p:txBody>
          <a:bodyPr wrap="none" lIns="0" tIns="0" rIns="0" bIns="0" rtlCol="0" anchor="t"/>
          <a:lstStyle/>
          <a:p>
            <a:pPr marL="0" indent="0" algn="l">
              <a:lnSpc>
                <a:spcPts val="2250"/>
              </a:lnSpc>
              <a:buNone/>
            </a:pPr>
            <a:r>
              <a:rPr lang="en-US" sz="1850" dirty="0">
                <a:solidFill>
                  <a:srgbClr val="171717"/>
                </a:solidFill>
                <a:latin typeface="Space Grotesk Medium" pitchFamily="34" charset="0"/>
                <a:ea typeface="Space Grotesk Medium" pitchFamily="34" charset="-122"/>
                <a:cs typeface="Space Grotesk Medium" pitchFamily="34" charset="-120"/>
              </a:rPr>
              <a:t>Description du Dataset</a:t>
            </a:r>
            <a:endParaRPr lang="en-US" sz="1850" dirty="0"/>
          </a:p>
        </p:txBody>
      </p:sp>
      <p:sp>
        <p:nvSpPr>
          <p:cNvPr id="6" name="Text 4"/>
          <p:cNvSpPr/>
          <p:nvPr/>
        </p:nvSpPr>
        <p:spPr>
          <a:xfrm>
            <a:off x="793790" y="2506742"/>
            <a:ext cx="6961823" cy="748665"/>
          </a:xfrm>
          <a:prstGeom prst="rect">
            <a:avLst/>
          </a:prstGeom>
          <a:noFill/>
          <a:ln/>
        </p:spPr>
        <p:txBody>
          <a:bodyPr wrap="square" lIns="0" tIns="0" rIns="0" bIns="0" rtlCol="0" anchor="t"/>
          <a:lstStyle/>
          <a:p>
            <a:pPr marL="0" indent="0" algn="l">
              <a:lnSpc>
                <a:spcPts val="1950"/>
              </a:lnSpc>
              <a:buNone/>
            </a:pPr>
            <a:r>
              <a:rPr lang="en-US" sz="1500" dirty="0">
                <a:solidFill>
                  <a:srgbClr val="2A2A2A"/>
                </a:solidFill>
                <a:latin typeface="DM Sans" pitchFamily="34" charset="0"/>
                <a:ea typeface="DM Sans" pitchFamily="34" charset="-122"/>
                <a:cs typeface="DM Sans" pitchFamily="34" charset="-120"/>
              </a:rPr>
              <a:t>Le dataset </a:t>
            </a:r>
            <a:r>
              <a:rPr lang="en-US" sz="1500" b="1" dirty="0">
                <a:solidFill>
                  <a:srgbClr val="2A2A2A"/>
                </a:solidFill>
                <a:latin typeface="DM Sans" pitchFamily="34" charset="0"/>
                <a:ea typeface="DM Sans" pitchFamily="34" charset="-122"/>
                <a:cs typeface="DM Sans" pitchFamily="34" charset="-120"/>
              </a:rPr>
              <a:t>German Credit</a:t>
            </a:r>
            <a:r>
              <a:rPr lang="en-US" sz="1500" dirty="0">
                <a:solidFill>
                  <a:srgbClr val="2A2A2A"/>
                </a:solidFill>
                <a:latin typeface="DM Sans" pitchFamily="34" charset="0"/>
                <a:ea typeface="DM Sans" pitchFamily="34" charset="-122"/>
                <a:cs typeface="DM Sans" pitchFamily="34" charset="-120"/>
              </a:rPr>
              <a:t> est un jeu de données de référence en scoring bancaire. Il contient </a:t>
            </a:r>
            <a:r>
              <a:rPr lang="en-US" sz="1500" b="1" dirty="0">
                <a:solidFill>
                  <a:srgbClr val="2A2A2A"/>
                </a:solidFill>
                <a:latin typeface="DM Sans" pitchFamily="34" charset="0"/>
                <a:ea typeface="DM Sans" pitchFamily="34" charset="-122"/>
                <a:cs typeface="DM Sans" pitchFamily="34" charset="-120"/>
              </a:rPr>
              <a:t>1 000 observations</a:t>
            </a:r>
            <a:r>
              <a:rPr lang="en-US" sz="1500" dirty="0">
                <a:solidFill>
                  <a:srgbClr val="2A2A2A"/>
                </a:solidFill>
                <a:latin typeface="DM Sans" pitchFamily="34" charset="0"/>
                <a:ea typeface="DM Sans" pitchFamily="34" charset="-122"/>
                <a:cs typeface="DM Sans" pitchFamily="34" charset="-120"/>
              </a:rPr>
              <a:t> représentant des clients ayant souscrit un crédit en Allemagne.</a:t>
            </a:r>
            <a:endParaRPr lang="en-US" sz="1500" dirty="0"/>
          </a:p>
        </p:txBody>
      </p:sp>
      <p:sp>
        <p:nvSpPr>
          <p:cNvPr id="7" name="Shape 5"/>
          <p:cNvSpPr/>
          <p:nvPr/>
        </p:nvSpPr>
        <p:spPr>
          <a:xfrm>
            <a:off x="793790" y="3439716"/>
            <a:ext cx="3398996" cy="1038106"/>
          </a:xfrm>
          <a:prstGeom prst="roundRect">
            <a:avLst>
              <a:gd name="adj" fmla="val 2786"/>
            </a:avLst>
          </a:prstGeom>
          <a:solidFill>
            <a:srgbClr val="171717"/>
          </a:solidFill>
          <a:ln/>
        </p:spPr>
      </p:sp>
      <p:sp>
        <p:nvSpPr>
          <p:cNvPr id="8" name="Text 6"/>
          <p:cNvSpPr/>
          <p:nvPr/>
        </p:nvSpPr>
        <p:spPr>
          <a:xfrm>
            <a:off x="986552" y="3632478"/>
            <a:ext cx="2409944" cy="289084"/>
          </a:xfrm>
          <a:prstGeom prst="rect">
            <a:avLst/>
          </a:prstGeom>
          <a:noFill/>
          <a:ln/>
        </p:spPr>
        <p:txBody>
          <a:bodyPr wrap="none" lIns="0" tIns="0" rIns="0" bIns="0" rtlCol="0" anchor="t"/>
          <a:lstStyle/>
          <a:p>
            <a:pPr marL="0" indent="0" algn="l">
              <a:lnSpc>
                <a:spcPts val="2250"/>
              </a:lnSpc>
              <a:buNone/>
            </a:pPr>
            <a:r>
              <a:rPr lang="en-US" sz="1850" dirty="0">
                <a:solidFill>
                  <a:srgbClr val="FFFFFF"/>
                </a:solidFill>
                <a:latin typeface="Space Grotesk Medium" pitchFamily="34" charset="0"/>
                <a:ea typeface="Space Grotesk Medium" pitchFamily="34" charset="-122"/>
                <a:cs typeface="Space Grotesk Medium" pitchFamily="34" charset="-120"/>
              </a:rPr>
              <a:t>1 000</a:t>
            </a:r>
            <a:endParaRPr lang="en-US" sz="1850" dirty="0"/>
          </a:p>
        </p:txBody>
      </p:sp>
      <p:sp>
        <p:nvSpPr>
          <p:cNvPr id="9" name="Text 7"/>
          <p:cNvSpPr/>
          <p:nvPr/>
        </p:nvSpPr>
        <p:spPr>
          <a:xfrm>
            <a:off x="986552" y="4085392"/>
            <a:ext cx="3013472" cy="199668"/>
          </a:xfrm>
          <a:prstGeom prst="rect">
            <a:avLst/>
          </a:prstGeom>
          <a:noFill/>
          <a:ln/>
        </p:spPr>
        <p:txBody>
          <a:bodyPr wrap="none" lIns="0" tIns="0" rIns="0" bIns="0" rtlCol="0" anchor="t"/>
          <a:lstStyle/>
          <a:p>
            <a:pPr marL="0" indent="0" algn="l">
              <a:lnSpc>
                <a:spcPts val="1550"/>
              </a:lnSpc>
              <a:buNone/>
            </a:pPr>
            <a:r>
              <a:rPr lang="en-US" sz="1200" dirty="0">
                <a:solidFill>
                  <a:srgbClr val="FFFFFF"/>
                </a:solidFill>
                <a:latin typeface="DM Sans" pitchFamily="34" charset="0"/>
                <a:ea typeface="DM Sans" pitchFamily="34" charset="-122"/>
                <a:cs typeface="DM Sans" pitchFamily="34" charset="-120"/>
              </a:rPr>
              <a:t>Observations clients</a:t>
            </a:r>
            <a:endParaRPr lang="en-US" sz="1200" dirty="0"/>
          </a:p>
        </p:txBody>
      </p:sp>
      <p:sp>
        <p:nvSpPr>
          <p:cNvPr id="10" name="Shape 8"/>
          <p:cNvSpPr/>
          <p:nvPr/>
        </p:nvSpPr>
        <p:spPr>
          <a:xfrm>
            <a:off x="4356616" y="3439716"/>
            <a:ext cx="3398996" cy="1038106"/>
          </a:xfrm>
          <a:prstGeom prst="roundRect">
            <a:avLst>
              <a:gd name="adj" fmla="val 2786"/>
            </a:avLst>
          </a:prstGeom>
          <a:solidFill>
            <a:srgbClr val="4A5F73"/>
          </a:solidFill>
          <a:ln/>
        </p:spPr>
      </p:sp>
      <p:sp>
        <p:nvSpPr>
          <p:cNvPr id="11" name="Text 9"/>
          <p:cNvSpPr/>
          <p:nvPr/>
        </p:nvSpPr>
        <p:spPr>
          <a:xfrm>
            <a:off x="4549378" y="3632478"/>
            <a:ext cx="2409944" cy="289084"/>
          </a:xfrm>
          <a:prstGeom prst="rect">
            <a:avLst/>
          </a:prstGeom>
          <a:noFill/>
          <a:ln/>
        </p:spPr>
        <p:txBody>
          <a:bodyPr wrap="none" lIns="0" tIns="0" rIns="0" bIns="0" rtlCol="0" anchor="t"/>
          <a:lstStyle/>
          <a:p>
            <a:pPr marL="0" indent="0" algn="l">
              <a:lnSpc>
                <a:spcPts val="2250"/>
              </a:lnSpc>
              <a:buNone/>
            </a:pPr>
            <a:r>
              <a:rPr lang="en-US" sz="1850" dirty="0">
                <a:solidFill>
                  <a:srgbClr val="FFFFFF"/>
                </a:solidFill>
                <a:latin typeface="Space Grotesk Medium" pitchFamily="34" charset="0"/>
                <a:ea typeface="Space Grotesk Medium" pitchFamily="34" charset="-122"/>
                <a:cs typeface="Space Grotesk Medium" pitchFamily="34" charset="-120"/>
              </a:rPr>
              <a:t>20</a:t>
            </a:r>
            <a:endParaRPr lang="en-US" sz="1850" dirty="0"/>
          </a:p>
        </p:txBody>
      </p:sp>
      <p:sp>
        <p:nvSpPr>
          <p:cNvPr id="12" name="Text 10"/>
          <p:cNvSpPr/>
          <p:nvPr/>
        </p:nvSpPr>
        <p:spPr>
          <a:xfrm>
            <a:off x="4549378" y="4085392"/>
            <a:ext cx="3013472" cy="199668"/>
          </a:xfrm>
          <a:prstGeom prst="rect">
            <a:avLst/>
          </a:prstGeom>
          <a:noFill/>
          <a:ln/>
        </p:spPr>
        <p:txBody>
          <a:bodyPr wrap="none" lIns="0" tIns="0" rIns="0" bIns="0" rtlCol="0" anchor="t"/>
          <a:lstStyle/>
          <a:p>
            <a:pPr marL="0" indent="0" algn="l">
              <a:lnSpc>
                <a:spcPts val="1550"/>
              </a:lnSpc>
              <a:buNone/>
            </a:pPr>
            <a:r>
              <a:rPr lang="en-US" sz="1200" dirty="0">
                <a:solidFill>
                  <a:srgbClr val="FFFFFF"/>
                </a:solidFill>
                <a:latin typeface="DM Sans" pitchFamily="34" charset="0"/>
                <a:ea typeface="DM Sans" pitchFamily="34" charset="-122"/>
                <a:cs typeface="DM Sans" pitchFamily="34" charset="-120"/>
              </a:rPr>
              <a:t>Variables prédictives</a:t>
            </a:r>
            <a:endParaRPr lang="en-US" sz="1200" dirty="0"/>
          </a:p>
        </p:txBody>
      </p:sp>
      <p:sp>
        <p:nvSpPr>
          <p:cNvPr id="13" name="Shape 11"/>
          <p:cNvSpPr/>
          <p:nvPr/>
        </p:nvSpPr>
        <p:spPr>
          <a:xfrm>
            <a:off x="793790" y="4641652"/>
            <a:ext cx="6961823" cy="1038106"/>
          </a:xfrm>
          <a:prstGeom prst="roundRect">
            <a:avLst>
              <a:gd name="adj" fmla="val 2786"/>
            </a:avLst>
          </a:prstGeom>
          <a:solidFill>
            <a:srgbClr val="2A2A2A"/>
          </a:solidFill>
          <a:ln/>
        </p:spPr>
      </p:sp>
      <p:sp>
        <p:nvSpPr>
          <p:cNvPr id="14" name="Text 12"/>
          <p:cNvSpPr/>
          <p:nvPr/>
        </p:nvSpPr>
        <p:spPr>
          <a:xfrm>
            <a:off x="986552" y="4834414"/>
            <a:ext cx="2409944" cy="289084"/>
          </a:xfrm>
          <a:prstGeom prst="rect">
            <a:avLst/>
          </a:prstGeom>
          <a:noFill/>
          <a:ln/>
        </p:spPr>
        <p:txBody>
          <a:bodyPr wrap="none" lIns="0" tIns="0" rIns="0" bIns="0" rtlCol="0" anchor="t"/>
          <a:lstStyle/>
          <a:p>
            <a:pPr marL="0" indent="0" algn="l">
              <a:lnSpc>
                <a:spcPts val="2250"/>
              </a:lnSpc>
              <a:buNone/>
            </a:pPr>
            <a:r>
              <a:rPr lang="en-US" sz="1850" dirty="0">
                <a:solidFill>
                  <a:srgbClr val="FFFFFF"/>
                </a:solidFill>
                <a:latin typeface="Space Grotesk Medium" pitchFamily="34" charset="0"/>
                <a:ea typeface="Space Grotesk Medium" pitchFamily="34" charset="-122"/>
                <a:cs typeface="Space Grotesk Medium" pitchFamily="34" charset="-120"/>
              </a:rPr>
              <a:t>2</a:t>
            </a:r>
            <a:endParaRPr lang="en-US" sz="1850" dirty="0"/>
          </a:p>
        </p:txBody>
      </p:sp>
      <p:sp>
        <p:nvSpPr>
          <p:cNvPr id="15" name="Text 13"/>
          <p:cNvSpPr/>
          <p:nvPr/>
        </p:nvSpPr>
        <p:spPr>
          <a:xfrm>
            <a:off x="986552" y="5287328"/>
            <a:ext cx="6576298" cy="199668"/>
          </a:xfrm>
          <a:prstGeom prst="rect">
            <a:avLst/>
          </a:prstGeom>
          <a:noFill/>
          <a:ln/>
        </p:spPr>
        <p:txBody>
          <a:bodyPr wrap="none" lIns="0" tIns="0" rIns="0" bIns="0" rtlCol="0" anchor="t"/>
          <a:lstStyle/>
          <a:p>
            <a:pPr marL="0" indent="0" algn="l">
              <a:lnSpc>
                <a:spcPts val="1550"/>
              </a:lnSpc>
              <a:buNone/>
            </a:pPr>
            <a:r>
              <a:rPr lang="en-US" sz="1200" dirty="0">
                <a:solidFill>
                  <a:srgbClr val="FFFFFF"/>
                </a:solidFill>
                <a:latin typeface="DM Sans" pitchFamily="34" charset="0"/>
                <a:ea typeface="DM Sans" pitchFamily="34" charset="-122"/>
                <a:cs typeface="DM Sans" pitchFamily="34" charset="-120"/>
              </a:rPr>
              <a:t>Classes cibles (Bon / Mauvais)</a:t>
            </a:r>
            <a:endParaRPr lang="en-US" sz="1200" dirty="0"/>
          </a:p>
        </p:txBody>
      </p:sp>
      <p:sp>
        <p:nvSpPr>
          <p:cNvPr id="16" name="Text 14"/>
          <p:cNvSpPr/>
          <p:nvPr/>
        </p:nvSpPr>
        <p:spPr>
          <a:xfrm>
            <a:off x="793790" y="5864066"/>
            <a:ext cx="2409944" cy="289084"/>
          </a:xfrm>
          <a:prstGeom prst="rect">
            <a:avLst/>
          </a:prstGeom>
          <a:noFill/>
          <a:ln/>
        </p:spPr>
        <p:txBody>
          <a:bodyPr wrap="none" lIns="0" tIns="0" rIns="0" bIns="0" rtlCol="0" anchor="t"/>
          <a:lstStyle/>
          <a:p>
            <a:pPr marL="0" indent="0" algn="l">
              <a:lnSpc>
                <a:spcPts val="2250"/>
              </a:lnSpc>
              <a:buNone/>
            </a:pPr>
            <a:r>
              <a:rPr lang="en-US" sz="1850" dirty="0">
                <a:solidFill>
                  <a:srgbClr val="171717"/>
                </a:solidFill>
                <a:latin typeface="Space Grotesk Medium" pitchFamily="34" charset="0"/>
                <a:ea typeface="Space Grotesk Medium" pitchFamily="34" charset="-122"/>
                <a:cs typeface="Space Grotesk Medium" pitchFamily="34" charset="-120"/>
              </a:rPr>
              <a:t>Variables Clés</a:t>
            </a:r>
            <a:endParaRPr lang="en-US" sz="1850" dirty="0"/>
          </a:p>
        </p:txBody>
      </p:sp>
      <p:sp>
        <p:nvSpPr>
          <p:cNvPr id="17" name="Text 15"/>
          <p:cNvSpPr/>
          <p:nvPr/>
        </p:nvSpPr>
        <p:spPr>
          <a:xfrm>
            <a:off x="793790" y="6316980"/>
            <a:ext cx="6961823" cy="1170027"/>
          </a:xfrm>
          <a:prstGeom prst="rect">
            <a:avLst/>
          </a:prstGeom>
          <a:noFill/>
          <a:ln/>
        </p:spPr>
        <p:txBody>
          <a:bodyPr wrap="square" lIns="0" tIns="0" rIns="0" bIns="0" rtlCol="0" anchor="t"/>
          <a:lstStyle/>
          <a:p>
            <a:pPr marL="342900" indent="-342900" algn="l">
              <a:lnSpc>
                <a:spcPts val="1950"/>
              </a:lnSpc>
              <a:buSzPct val="100000"/>
              <a:buChar char="•"/>
            </a:pPr>
            <a:r>
              <a:rPr lang="en-US" sz="1500" dirty="0">
                <a:solidFill>
                  <a:srgbClr val="2A2A2A"/>
                </a:solidFill>
                <a:latin typeface="DM Sans" pitchFamily="34" charset="0"/>
                <a:ea typeface="DM Sans" pitchFamily="34" charset="-122"/>
                <a:cs typeface="DM Sans" pitchFamily="34" charset="-120"/>
              </a:rPr>
              <a:t>Statut du compte courant, durée et montant du crédit</a:t>
            </a:r>
            <a:endParaRPr lang="en-US" sz="1500" dirty="0"/>
          </a:p>
          <a:p>
            <a:pPr marL="342900" indent="-342900" algn="l">
              <a:lnSpc>
                <a:spcPts val="1950"/>
              </a:lnSpc>
              <a:buSzPct val="100000"/>
              <a:buChar char="•"/>
            </a:pPr>
            <a:r>
              <a:rPr lang="en-US" sz="1500" dirty="0">
                <a:solidFill>
                  <a:srgbClr val="2A2A2A"/>
                </a:solidFill>
                <a:latin typeface="DM Sans" pitchFamily="34" charset="0"/>
                <a:ea typeface="DM Sans" pitchFamily="34" charset="-122"/>
                <a:cs typeface="DM Sans" pitchFamily="34" charset="-120"/>
              </a:rPr>
              <a:t>Historique de crédit, objet du prêt, épargne</a:t>
            </a:r>
            <a:endParaRPr lang="en-US" sz="1500" dirty="0"/>
          </a:p>
          <a:p>
            <a:pPr marL="342900" indent="-342900" algn="l">
              <a:lnSpc>
                <a:spcPts val="1950"/>
              </a:lnSpc>
              <a:buSzPct val="100000"/>
              <a:buChar char="•"/>
            </a:pPr>
            <a:r>
              <a:rPr lang="en-US" sz="1500" dirty="0">
                <a:solidFill>
                  <a:srgbClr val="2A2A2A"/>
                </a:solidFill>
                <a:latin typeface="DM Sans" pitchFamily="34" charset="0"/>
                <a:ea typeface="DM Sans" pitchFamily="34" charset="-122"/>
                <a:cs typeface="DM Sans" pitchFamily="34" charset="-120"/>
              </a:rPr>
              <a:t>Situation professionnelle, âge, statut personnel</a:t>
            </a:r>
            <a:endParaRPr lang="en-US" sz="1500" dirty="0"/>
          </a:p>
          <a:p>
            <a:pPr marL="342900" indent="-342900" algn="l">
              <a:lnSpc>
                <a:spcPts val="1950"/>
              </a:lnSpc>
              <a:buSzPct val="100000"/>
              <a:buChar char="•"/>
            </a:pPr>
            <a:r>
              <a:rPr lang="en-US" sz="1500" dirty="0">
                <a:solidFill>
                  <a:srgbClr val="2A2A2A"/>
                </a:solidFill>
                <a:latin typeface="DM Sans" pitchFamily="34" charset="0"/>
                <a:ea typeface="DM Sans" pitchFamily="34" charset="-122"/>
                <a:cs typeface="DM Sans" pitchFamily="34" charset="-120"/>
              </a:rPr>
              <a:t>Variable cible : </a:t>
            </a:r>
            <a:r>
              <a:rPr lang="en-US" sz="1500" b="1" dirty="0">
                <a:solidFill>
                  <a:srgbClr val="2A2A2A"/>
                </a:solidFill>
                <a:latin typeface="DM Sans" pitchFamily="34" charset="0"/>
                <a:ea typeface="DM Sans" pitchFamily="34" charset="-122"/>
                <a:cs typeface="DM Sans" pitchFamily="34" charset="-120"/>
              </a:rPr>
              <a:t>Risque crédit (1 = bon, 2 = mauvais)</a:t>
            </a:r>
            <a:endParaRPr lang="en-US" sz="1500" dirty="0"/>
          </a:p>
        </p:txBody>
      </p:sp>
      <p:sp>
        <p:nvSpPr>
          <p:cNvPr id="19" name="Text 17"/>
          <p:cNvSpPr/>
          <p:nvPr/>
        </p:nvSpPr>
        <p:spPr>
          <a:xfrm>
            <a:off x="8287464" y="2053828"/>
            <a:ext cx="2497098" cy="289084"/>
          </a:xfrm>
          <a:prstGeom prst="rect">
            <a:avLst/>
          </a:prstGeom>
          <a:noFill/>
          <a:ln/>
        </p:spPr>
        <p:txBody>
          <a:bodyPr wrap="none" lIns="0" tIns="0" rIns="0" bIns="0" rtlCol="0" anchor="t"/>
          <a:lstStyle/>
          <a:p>
            <a:pPr marL="0" indent="0" algn="l">
              <a:lnSpc>
                <a:spcPts val="2250"/>
              </a:lnSpc>
              <a:buNone/>
            </a:pPr>
            <a:endParaRPr lang="en-US" sz="1850" dirty="0"/>
          </a:p>
        </p:txBody>
      </p:sp>
      <p:sp>
        <p:nvSpPr>
          <p:cNvPr id="20" name="Text 18"/>
          <p:cNvSpPr/>
          <p:nvPr/>
        </p:nvSpPr>
        <p:spPr>
          <a:xfrm>
            <a:off x="8287464" y="2506742"/>
            <a:ext cx="5502712" cy="399336"/>
          </a:xfrm>
          <a:prstGeom prst="rect">
            <a:avLst/>
          </a:prstGeom>
          <a:noFill/>
          <a:ln/>
        </p:spPr>
        <p:txBody>
          <a:bodyPr wrap="square" lIns="0" tIns="0" rIns="0" bIns="0" rtlCol="0" anchor="t"/>
          <a:lstStyle/>
          <a:p>
            <a:pPr marL="0" indent="0" algn="l">
              <a:lnSpc>
                <a:spcPts val="1550"/>
              </a:lnSpc>
              <a:buNone/>
            </a:pPr>
            <a:endParaRPr lang="en-US" sz="1200" dirty="0"/>
          </a:p>
        </p:txBody>
      </p:sp>
      <p:sp>
        <p:nvSpPr>
          <p:cNvPr id="23" name="Text 20"/>
          <p:cNvSpPr/>
          <p:nvPr/>
        </p:nvSpPr>
        <p:spPr>
          <a:xfrm>
            <a:off x="8913971" y="3302318"/>
            <a:ext cx="4683443" cy="748665"/>
          </a:xfrm>
          <a:prstGeom prst="rect">
            <a:avLst/>
          </a:prstGeom>
          <a:noFill/>
          <a:ln/>
        </p:spPr>
        <p:txBody>
          <a:bodyPr wrap="square" lIns="0" tIns="0" rIns="0" bIns="0" rtlCol="0" anchor="t"/>
          <a:lstStyle/>
          <a:p>
            <a:pPr marL="0" indent="0" algn="l">
              <a:lnSpc>
                <a:spcPts val="1950"/>
              </a:lnSpc>
              <a:buNone/>
            </a:pPr>
            <a:endParaRPr lang="en-US" sz="1500" dirty="0"/>
          </a:p>
        </p:txBody>
      </p:sp>
      <p:pic>
        <p:nvPicPr>
          <p:cNvPr id="3074" name="Picture 2" descr="Surface blanche à rayures rondes Couverture souple blanche | Vecteur Premium">
            <a:extLst>
              <a:ext uri="{FF2B5EF4-FFF2-40B4-BE49-F238E27FC236}">
                <a16:creationId xmlns:a16="http://schemas.microsoft.com/office/drawing/2014/main" id="{F78B23B8-FFAC-D0D1-0D31-442B6E2EBC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45077" y="7679138"/>
            <a:ext cx="2981325" cy="481882"/>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C369361A-4DA8-2A43-2B30-83931B8705F5}"/>
              </a:ext>
            </a:extLst>
          </p:cNvPr>
          <p:cNvPicPr>
            <a:picLocks noChangeAspect="1"/>
          </p:cNvPicPr>
          <p:nvPr/>
        </p:nvPicPr>
        <p:blipFill>
          <a:blip r:embed="rId4"/>
          <a:stretch>
            <a:fillRect/>
          </a:stretch>
        </p:blipFill>
        <p:spPr>
          <a:xfrm>
            <a:off x="7883299" y="2540085"/>
            <a:ext cx="6597942" cy="420313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793790" y="771882"/>
            <a:ext cx="891302" cy="339566"/>
          </a:xfrm>
          <a:prstGeom prst="roundRect">
            <a:avLst>
              <a:gd name="adj" fmla="val 7214"/>
            </a:avLst>
          </a:prstGeom>
          <a:solidFill>
            <a:srgbClr val="E6E6E6"/>
          </a:solidFill>
          <a:ln/>
        </p:spPr>
      </p:sp>
      <p:sp>
        <p:nvSpPr>
          <p:cNvPr id="3" name="Text 1"/>
          <p:cNvSpPr/>
          <p:nvPr/>
        </p:nvSpPr>
        <p:spPr>
          <a:xfrm>
            <a:off x="916186" y="833080"/>
            <a:ext cx="646509" cy="217170"/>
          </a:xfrm>
          <a:prstGeom prst="rect">
            <a:avLst/>
          </a:prstGeom>
          <a:noFill/>
          <a:ln/>
        </p:spPr>
        <p:txBody>
          <a:bodyPr wrap="none" lIns="0" tIns="0" rIns="0" bIns="0" rtlCol="0" anchor="t"/>
          <a:lstStyle/>
          <a:p>
            <a:pPr marL="0" indent="0" algn="l">
              <a:lnSpc>
                <a:spcPts val="1700"/>
              </a:lnSpc>
              <a:buNone/>
            </a:pPr>
            <a:r>
              <a:rPr lang="en-US" sz="1250" dirty="0">
                <a:solidFill>
                  <a:srgbClr val="2A2A2A"/>
                </a:solidFill>
                <a:latin typeface="DM Sans" pitchFamily="34" charset="0"/>
                <a:ea typeface="DM Sans" pitchFamily="34" charset="-122"/>
                <a:cs typeface="DM Sans" pitchFamily="34" charset="-120"/>
              </a:rPr>
              <a:t>MODÈLE</a:t>
            </a:r>
            <a:endParaRPr lang="en-US" sz="1250" dirty="0"/>
          </a:p>
        </p:txBody>
      </p:sp>
      <p:sp>
        <p:nvSpPr>
          <p:cNvPr id="4" name="Text 2"/>
          <p:cNvSpPr/>
          <p:nvPr/>
        </p:nvSpPr>
        <p:spPr>
          <a:xfrm>
            <a:off x="793790" y="1184910"/>
            <a:ext cx="10638830" cy="612458"/>
          </a:xfrm>
          <a:prstGeom prst="rect">
            <a:avLst/>
          </a:prstGeom>
          <a:noFill/>
          <a:ln/>
        </p:spPr>
        <p:txBody>
          <a:bodyPr wrap="none" lIns="0" tIns="0" rIns="0" bIns="0" rtlCol="0" anchor="t"/>
          <a:lstStyle/>
          <a:p>
            <a:pPr marL="0" indent="0" algn="l">
              <a:lnSpc>
                <a:spcPts val="4800"/>
              </a:lnSpc>
              <a:buNone/>
            </a:pPr>
            <a:r>
              <a:rPr lang="en-US" sz="4000" dirty="0">
                <a:solidFill>
                  <a:srgbClr val="171717"/>
                </a:solidFill>
                <a:latin typeface="Space Grotesk Medium" pitchFamily="34" charset="0"/>
                <a:ea typeface="Space Grotesk Medium" pitchFamily="34" charset="-122"/>
                <a:cs typeface="Space Grotesk Medium" pitchFamily="34" charset="-120"/>
              </a:rPr>
              <a:t>Modèle Technique — Régression Logistique</a:t>
            </a:r>
            <a:endParaRPr lang="en-US" sz="4000" dirty="0"/>
          </a:p>
        </p:txBody>
      </p:sp>
      <p:sp>
        <p:nvSpPr>
          <p:cNvPr id="5" name="Text 3"/>
          <p:cNvSpPr/>
          <p:nvPr/>
        </p:nvSpPr>
        <p:spPr>
          <a:xfrm>
            <a:off x="793790" y="2256592"/>
            <a:ext cx="4389120" cy="306110"/>
          </a:xfrm>
          <a:prstGeom prst="rect">
            <a:avLst/>
          </a:prstGeom>
          <a:noFill/>
          <a:ln/>
        </p:spPr>
        <p:txBody>
          <a:bodyPr wrap="none" lIns="0" tIns="0" rIns="0" bIns="0" rtlCol="0" anchor="t"/>
          <a:lstStyle/>
          <a:p>
            <a:pPr marL="0" indent="0" algn="l">
              <a:lnSpc>
                <a:spcPts val="2400"/>
              </a:lnSpc>
              <a:buNone/>
            </a:pPr>
            <a:r>
              <a:rPr lang="en-US" sz="2000" dirty="0">
                <a:solidFill>
                  <a:srgbClr val="171717"/>
                </a:solidFill>
                <a:latin typeface="Space Grotesk Medium" pitchFamily="34" charset="0"/>
                <a:ea typeface="Space Grotesk Medium" pitchFamily="34" charset="-122"/>
                <a:cs typeface="Space Grotesk Medium" pitchFamily="34" charset="-120"/>
              </a:rPr>
              <a:t>Pourquoi la Régression Logistique ?</a:t>
            </a:r>
            <a:endParaRPr lang="en-US" sz="2000" dirty="0"/>
          </a:p>
        </p:txBody>
      </p:sp>
      <p:sp>
        <p:nvSpPr>
          <p:cNvPr id="6" name="Text 4"/>
          <p:cNvSpPr/>
          <p:nvPr/>
        </p:nvSpPr>
        <p:spPr>
          <a:xfrm>
            <a:off x="793790" y="2746415"/>
            <a:ext cx="6272451" cy="814388"/>
          </a:xfrm>
          <a:prstGeom prst="rect">
            <a:avLst/>
          </a:prstGeom>
          <a:noFill/>
          <a:ln/>
        </p:spPr>
        <p:txBody>
          <a:bodyPr wrap="square" lIns="0" tIns="0" rIns="0" bIns="0" rtlCol="0" anchor="t"/>
          <a:lstStyle/>
          <a:p>
            <a:pPr marL="0" indent="0" algn="l">
              <a:lnSpc>
                <a:spcPts val="2100"/>
              </a:lnSpc>
              <a:buNone/>
            </a:pPr>
            <a:r>
              <a:rPr lang="en-US" sz="1600" dirty="0">
                <a:solidFill>
                  <a:srgbClr val="2A2A2A"/>
                </a:solidFill>
                <a:latin typeface="DM Sans" pitchFamily="34" charset="0"/>
                <a:ea typeface="DM Sans" pitchFamily="34" charset="-122"/>
                <a:cs typeface="DM Sans" pitchFamily="34" charset="-120"/>
              </a:rPr>
              <a:t>La régression logistique est un algorithme de classification binaire particulièrement adapté au scoring de crédit. Elle prédit la </a:t>
            </a:r>
            <a:r>
              <a:rPr lang="en-US" sz="1600" b="1" dirty="0">
                <a:solidFill>
                  <a:srgbClr val="2A2A2A"/>
                </a:solidFill>
                <a:latin typeface="DM Sans" pitchFamily="34" charset="0"/>
                <a:ea typeface="DM Sans" pitchFamily="34" charset="-122"/>
                <a:cs typeface="DM Sans" pitchFamily="34" charset="-120"/>
              </a:rPr>
              <a:t>probabilité</a:t>
            </a:r>
            <a:r>
              <a:rPr lang="en-US" sz="1600" dirty="0">
                <a:solidFill>
                  <a:srgbClr val="2A2A2A"/>
                </a:solidFill>
                <a:latin typeface="DM Sans" pitchFamily="34" charset="0"/>
                <a:ea typeface="DM Sans" pitchFamily="34" charset="-122"/>
                <a:cs typeface="DM Sans" pitchFamily="34" charset="-120"/>
              </a:rPr>
              <a:t> qu'un client soit en défaut, comprise entre 0 et 1.</a:t>
            </a:r>
            <a:endParaRPr lang="en-US" sz="1600" dirty="0"/>
          </a:p>
        </p:txBody>
      </p:sp>
      <p:sp>
        <p:nvSpPr>
          <p:cNvPr id="7" name="Text 5"/>
          <p:cNvSpPr/>
          <p:nvPr/>
        </p:nvSpPr>
        <p:spPr>
          <a:xfrm>
            <a:off x="793790" y="3744516"/>
            <a:ext cx="2644497" cy="306110"/>
          </a:xfrm>
          <a:prstGeom prst="rect">
            <a:avLst/>
          </a:prstGeom>
          <a:noFill/>
          <a:ln/>
        </p:spPr>
        <p:txBody>
          <a:bodyPr wrap="none" lIns="0" tIns="0" rIns="0" bIns="0" rtlCol="0" anchor="t"/>
          <a:lstStyle/>
          <a:p>
            <a:pPr marL="0" indent="0" algn="l">
              <a:lnSpc>
                <a:spcPts val="2400"/>
              </a:lnSpc>
              <a:buNone/>
            </a:pPr>
            <a:r>
              <a:rPr lang="en-US" sz="2000" dirty="0">
                <a:solidFill>
                  <a:srgbClr val="171717"/>
                </a:solidFill>
                <a:latin typeface="Space Grotesk Medium" pitchFamily="34" charset="0"/>
                <a:ea typeface="Space Grotesk Medium" pitchFamily="34" charset="-122"/>
                <a:cs typeface="Space Grotesk Medium" pitchFamily="34" charset="-120"/>
              </a:rPr>
              <a:t>La Fonction Sigmoïde</a:t>
            </a:r>
            <a:endParaRPr lang="en-US" sz="2000" dirty="0"/>
          </a:p>
        </p:txBody>
      </p:sp>
      <p:sp>
        <p:nvSpPr>
          <p:cNvPr id="8" name="Text 6"/>
          <p:cNvSpPr/>
          <p:nvPr/>
        </p:nvSpPr>
        <p:spPr>
          <a:xfrm>
            <a:off x="793790" y="4234339"/>
            <a:ext cx="6272451" cy="542925"/>
          </a:xfrm>
          <a:prstGeom prst="rect">
            <a:avLst/>
          </a:prstGeom>
          <a:noFill/>
          <a:ln/>
        </p:spPr>
        <p:txBody>
          <a:bodyPr wrap="square" lIns="0" tIns="0" rIns="0" bIns="0" rtlCol="0" anchor="t"/>
          <a:lstStyle/>
          <a:p>
            <a:pPr marL="0" indent="0" algn="l">
              <a:lnSpc>
                <a:spcPts val="2100"/>
              </a:lnSpc>
              <a:buNone/>
            </a:pPr>
            <a:r>
              <a:rPr lang="en-US" sz="1600" dirty="0">
                <a:solidFill>
                  <a:srgbClr val="2A2A2A"/>
                </a:solidFill>
                <a:latin typeface="DM Sans" pitchFamily="34" charset="0"/>
                <a:ea typeface="DM Sans" pitchFamily="34" charset="-122"/>
                <a:cs typeface="DM Sans" pitchFamily="34" charset="-120"/>
              </a:rPr>
              <a:t>Le cœur du modèle est la fonction sigmoïde qui transforme toute valeur réelle en une probabilité :</a:t>
            </a:r>
            <a:endParaRPr lang="en-US" sz="1600" dirty="0"/>
          </a:p>
        </p:txBody>
      </p:sp>
      <p:sp>
        <p:nvSpPr>
          <p:cNvPr id="9" name="Text 7"/>
          <p:cNvSpPr/>
          <p:nvPr/>
        </p:nvSpPr>
        <p:spPr>
          <a:xfrm>
            <a:off x="793790" y="5009793"/>
            <a:ext cx="6272451" cy="580906"/>
          </a:xfrm>
          <a:prstGeom prst="rect">
            <a:avLst/>
          </a:prstGeom>
          <a:noFill/>
          <a:ln/>
        </p:spPr>
        <p:txBody>
          <a:bodyPr wrap="square" lIns="0" tIns="0" rIns="0" bIns="0" rtlCol="0" anchor="t"/>
          <a:lstStyle/>
          <a:p>
            <a:pPr marL="0" indent="0" algn="l">
              <a:lnSpc>
                <a:spcPts val="2400"/>
              </a:lnSpc>
              <a:buNone/>
            </a:pPr>
            <a:endParaRPr lang="en-US" sz="1800" dirty="0"/>
          </a:p>
        </p:txBody>
      </p:sp>
      <p:pic>
        <p:nvPicPr>
          <p:cNvPr id="10" name="Image 0" descr="preencoded.png"/>
          <p:cNvPicPr>
            <a:picLocks noChangeAspect="1"/>
          </p:cNvPicPr>
          <p:nvPr/>
        </p:nvPicPr>
        <p:blipFill>
          <a:blip r:embed="rId3"/>
          <a:stretch>
            <a:fillRect/>
          </a:stretch>
        </p:blipFill>
        <p:spPr>
          <a:xfrm>
            <a:off x="793790" y="5009793"/>
            <a:ext cx="6272451" cy="580906"/>
          </a:xfrm>
          <a:prstGeom prst="rect">
            <a:avLst/>
          </a:prstGeom>
        </p:spPr>
      </p:pic>
      <p:sp>
        <p:nvSpPr>
          <p:cNvPr id="11" name="Text 8"/>
          <p:cNvSpPr/>
          <p:nvPr/>
        </p:nvSpPr>
        <p:spPr>
          <a:xfrm>
            <a:off x="793790" y="5823228"/>
            <a:ext cx="6272451" cy="277416"/>
          </a:xfrm>
          <a:prstGeom prst="rect">
            <a:avLst/>
          </a:prstGeom>
          <a:noFill/>
          <a:ln/>
        </p:spPr>
        <p:txBody>
          <a:bodyPr wrap="none" lIns="0" tIns="0" rIns="0" bIns="0" rtlCol="0" anchor="t"/>
          <a:lstStyle/>
          <a:p>
            <a:pPr marL="0" indent="0" algn="l">
              <a:lnSpc>
                <a:spcPts val="2100"/>
              </a:lnSpc>
              <a:buNone/>
            </a:pPr>
            <a:r>
              <a:rPr lang="en-US" sz="1600" dirty="0">
                <a:solidFill>
                  <a:srgbClr val="2A2A2A"/>
                </a:solidFill>
                <a:latin typeface="DM Sans" pitchFamily="34" charset="0"/>
                <a:ea typeface="DM Sans" pitchFamily="34" charset="-122"/>
                <a:cs typeface="DM Sans" pitchFamily="34" charset="-120"/>
              </a:rPr>
              <a:t>où </a:t>
            </a:r>
            <a:r>
              <a:rPr lang="en-US" sz="1600" i="1" dirty="0">
                <a:solidFill>
                  <a:srgbClr val="2A2A2A"/>
                </a:solidFill>
                <a:latin typeface="DM Sans" pitchFamily="34" charset="0"/>
                <a:ea typeface="DM Sans" pitchFamily="34" charset="-122"/>
                <a:cs typeface="DM Sans" pitchFamily="34" charset="-120"/>
              </a:rPr>
              <a:t>z = \beta_0 + \beta_1 x_1 + \beta_2 x_2 + \ldots + \beta_n x_n</a:t>
            </a:r>
            <a:endParaRPr lang="en-US" sz="1600" dirty="0"/>
          </a:p>
        </p:txBody>
      </p:sp>
      <p:sp>
        <p:nvSpPr>
          <p:cNvPr id="12" name="Text 9"/>
          <p:cNvSpPr/>
          <p:nvPr/>
        </p:nvSpPr>
        <p:spPr>
          <a:xfrm>
            <a:off x="793790" y="6284357"/>
            <a:ext cx="2551748" cy="306110"/>
          </a:xfrm>
          <a:prstGeom prst="rect">
            <a:avLst/>
          </a:prstGeom>
          <a:noFill/>
          <a:ln/>
        </p:spPr>
        <p:txBody>
          <a:bodyPr wrap="none" lIns="0" tIns="0" rIns="0" bIns="0" rtlCol="0" anchor="t"/>
          <a:lstStyle/>
          <a:p>
            <a:pPr marL="0" indent="0" algn="l">
              <a:lnSpc>
                <a:spcPts val="2400"/>
              </a:lnSpc>
              <a:buNone/>
            </a:pPr>
            <a:r>
              <a:rPr lang="en-US" sz="2000" dirty="0">
                <a:solidFill>
                  <a:srgbClr val="171717"/>
                </a:solidFill>
                <a:latin typeface="Space Grotesk Medium" pitchFamily="34" charset="0"/>
                <a:ea typeface="Space Grotesk Medium" pitchFamily="34" charset="-122"/>
                <a:cs typeface="Space Grotesk Medium" pitchFamily="34" charset="-120"/>
              </a:rPr>
              <a:t>Règle de Décision</a:t>
            </a:r>
            <a:endParaRPr lang="en-US" sz="2000" dirty="0"/>
          </a:p>
        </p:txBody>
      </p:sp>
      <p:sp>
        <p:nvSpPr>
          <p:cNvPr id="13" name="Text 10"/>
          <p:cNvSpPr/>
          <p:nvPr/>
        </p:nvSpPr>
        <p:spPr>
          <a:xfrm>
            <a:off x="793790" y="6774180"/>
            <a:ext cx="6272451" cy="619125"/>
          </a:xfrm>
          <a:prstGeom prst="rect">
            <a:avLst/>
          </a:prstGeom>
          <a:noFill/>
          <a:ln/>
        </p:spPr>
        <p:txBody>
          <a:bodyPr wrap="square" lIns="0" tIns="0" rIns="0" bIns="0" rtlCol="0" anchor="t"/>
          <a:lstStyle/>
          <a:p>
            <a:pPr marL="342900" indent="-342900" algn="l">
              <a:lnSpc>
                <a:spcPts val="2100"/>
              </a:lnSpc>
              <a:buSzPct val="100000"/>
              <a:buChar char="•"/>
            </a:pPr>
            <a:r>
              <a:rPr lang="en-US" sz="1600" dirty="0">
                <a:solidFill>
                  <a:srgbClr val="2A2A2A"/>
                </a:solidFill>
                <a:latin typeface="DM Sans" pitchFamily="34" charset="0"/>
                <a:ea typeface="DM Sans" pitchFamily="34" charset="-122"/>
                <a:cs typeface="DM Sans" pitchFamily="34" charset="-120"/>
              </a:rPr>
              <a:t>Si </a:t>
            </a:r>
            <a:r>
              <a:rPr lang="en-US" sz="1600" i="1" dirty="0">
                <a:solidFill>
                  <a:srgbClr val="2A2A2A"/>
                </a:solidFill>
                <a:latin typeface="DM Sans" pitchFamily="34" charset="0"/>
                <a:ea typeface="DM Sans" pitchFamily="34" charset="-122"/>
                <a:cs typeface="DM Sans" pitchFamily="34" charset="-120"/>
              </a:rPr>
              <a:t>P \geq \text{seuil}</a:t>
            </a:r>
            <a:r>
              <a:rPr lang="en-US" sz="1600" dirty="0">
                <a:solidFill>
                  <a:srgbClr val="2A2A2A"/>
                </a:solidFill>
                <a:latin typeface="DM Sans" pitchFamily="34" charset="0"/>
                <a:ea typeface="DM Sans" pitchFamily="34" charset="-122"/>
                <a:cs typeface="DM Sans" pitchFamily="34" charset="-120"/>
              </a:rPr>
              <a:t> → Client </a:t>
            </a:r>
            <a:r>
              <a:rPr lang="en-US" sz="1600" b="1" dirty="0">
                <a:solidFill>
                  <a:srgbClr val="2A2A2A"/>
                </a:solidFill>
                <a:latin typeface="DM Sans" pitchFamily="34" charset="0"/>
                <a:ea typeface="DM Sans" pitchFamily="34" charset="-122"/>
                <a:cs typeface="DM Sans" pitchFamily="34" charset="-120"/>
              </a:rPr>
              <a:t>à risque</a:t>
            </a:r>
            <a:r>
              <a:rPr lang="en-US" sz="1600" dirty="0">
                <a:solidFill>
                  <a:srgbClr val="2A2A2A"/>
                </a:solidFill>
                <a:latin typeface="DM Sans" pitchFamily="34" charset="0"/>
                <a:ea typeface="DM Sans" pitchFamily="34" charset="-122"/>
                <a:cs typeface="DM Sans" pitchFamily="34" charset="-120"/>
              </a:rPr>
              <a:t> (refus du crédit)</a:t>
            </a:r>
            <a:endParaRPr lang="en-US" sz="1600" dirty="0"/>
          </a:p>
          <a:p>
            <a:pPr marL="342900" indent="-342900" algn="l">
              <a:lnSpc>
                <a:spcPts val="2100"/>
              </a:lnSpc>
              <a:buSzPct val="100000"/>
              <a:buChar char="•"/>
            </a:pPr>
            <a:r>
              <a:rPr lang="en-US" sz="1600" dirty="0">
                <a:solidFill>
                  <a:srgbClr val="2A2A2A"/>
                </a:solidFill>
                <a:latin typeface="DM Sans" pitchFamily="34" charset="0"/>
                <a:ea typeface="DM Sans" pitchFamily="34" charset="-122"/>
                <a:cs typeface="DM Sans" pitchFamily="34" charset="-120"/>
              </a:rPr>
              <a:t>Si </a:t>
            </a:r>
            <a:r>
              <a:rPr lang="en-US" sz="1600" i="1" dirty="0">
                <a:solidFill>
                  <a:srgbClr val="2A2A2A"/>
                </a:solidFill>
                <a:latin typeface="DM Sans" pitchFamily="34" charset="0"/>
                <a:ea typeface="DM Sans" pitchFamily="34" charset="-122"/>
                <a:cs typeface="DM Sans" pitchFamily="34" charset="-120"/>
              </a:rPr>
              <a:t>P &lt; \text{seuil}</a:t>
            </a:r>
            <a:r>
              <a:rPr lang="en-US" sz="1600" dirty="0">
                <a:solidFill>
                  <a:srgbClr val="2A2A2A"/>
                </a:solidFill>
                <a:latin typeface="DM Sans" pitchFamily="34" charset="0"/>
                <a:ea typeface="DM Sans" pitchFamily="34" charset="-122"/>
                <a:cs typeface="DM Sans" pitchFamily="34" charset="-120"/>
              </a:rPr>
              <a:t> → Client </a:t>
            </a:r>
            <a:r>
              <a:rPr lang="en-US" sz="1600" b="1" dirty="0">
                <a:solidFill>
                  <a:srgbClr val="2A2A2A"/>
                </a:solidFill>
                <a:latin typeface="DM Sans" pitchFamily="34" charset="0"/>
                <a:ea typeface="DM Sans" pitchFamily="34" charset="-122"/>
                <a:cs typeface="DM Sans" pitchFamily="34" charset="-120"/>
              </a:rPr>
              <a:t>solvable</a:t>
            </a:r>
            <a:r>
              <a:rPr lang="en-US" sz="1600" dirty="0">
                <a:solidFill>
                  <a:srgbClr val="2A2A2A"/>
                </a:solidFill>
                <a:latin typeface="DM Sans" pitchFamily="34" charset="0"/>
                <a:ea typeface="DM Sans" pitchFamily="34" charset="-122"/>
                <a:cs typeface="DM Sans" pitchFamily="34" charset="-120"/>
              </a:rPr>
              <a:t> (accord du crédit)</a:t>
            </a:r>
            <a:endParaRPr lang="en-US" sz="1600" dirty="0"/>
          </a:p>
        </p:txBody>
      </p:sp>
      <p:sp>
        <p:nvSpPr>
          <p:cNvPr id="15" name="Text 12"/>
          <p:cNvSpPr/>
          <p:nvPr/>
        </p:nvSpPr>
        <p:spPr>
          <a:xfrm>
            <a:off x="7628930" y="2256592"/>
            <a:ext cx="4139684" cy="306110"/>
          </a:xfrm>
          <a:prstGeom prst="rect">
            <a:avLst/>
          </a:prstGeom>
          <a:noFill/>
          <a:ln/>
        </p:spPr>
        <p:txBody>
          <a:bodyPr wrap="none" lIns="0" tIns="0" rIns="0" bIns="0" rtlCol="0" anchor="t"/>
          <a:lstStyle/>
          <a:p>
            <a:pPr marL="0" indent="0" algn="l">
              <a:lnSpc>
                <a:spcPts val="2400"/>
              </a:lnSpc>
              <a:buNone/>
            </a:pPr>
            <a:r>
              <a:rPr lang="en-US" sz="2000" dirty="0">
                <a:solidFill>
                  <a:srgbClr val="FFFFFF"/>
                </a:solidFill>
                <a:latin typeface="Space Grotesk Medium" pitchFamily="34" charset="0"/>
                <a:ea typeface="Space Grotesk Medium" pitchFamily="34" charset="-122"/>
                <a:cs typeface="Space Grotesk Medium" pitchFamily="34" charset="-120"/>
              </a:rPr>
              <a:t> </a:t>
            </a:r>
            <a:endParaRPr lang="en-US" sz="2000" dirty="0"/>
          </a:p>
        </p:txBody>
      </p:sp>
      <p:sp>
        <p:nvSpPr>
          <p:cNvPr id="16" name="Text 13"/>
          <p:cNvSpPr/>
          <p:nvPr/>
        </p:nvSpPr>
        <p:spPr>
          <a:xfrm>
            <a:off x="7628930" y="2746415"/>
            <a:ext cx="6158151" cy="434340"/>
          </a:xfrm>
          <a:prstGeom prst="rect">
            <a:avLst/>
          </a:prstGeom>
          <a:noFill/>
          <a:ln/>
        </p:spPr>
        <p:txBody>
          <a:bodyPr wrap="square" lIns="0" tIns="0" rIns="0" bIns="0" rtlCol="0" anchor="t"/>
          <a:lstStyle/>
          <a:p>
            <a:pPr marL="0" indent="0" algn="l">
              <a:lnSpc>
                <a:spcPts val="1700"/>
              </a:lnSpc>
              <a:buNone/>
            </a:pPr>
            <a:endParaRPr lang="en-US" sz="1250" dirty="0"/>
          </a:p>
        </p:txBody>
      </p:sp>
      <p:sp>
        <p:nvSpPr>
          <p:cNvPr id="19" name="Text 15"/>
          <p:cNvSpPr/>
          <p:nvPr/>
        </p:nvSpPr>
        <p:spPr>
          <a:xfrm>
            <a:off x="8292227" y="3622119"/>
            <a:ext cx="5290780" cy="822008"/>
          </a:xfrm>
          <a:prstGeom prst="rect">
            <a:avLst/>
          </a:prstGeom>
          <a:noFill/>
          <a:ln/>
        </p:spPr>
        <p:txBody>
          <a:bodyPr wrap="square" lIns="0" tIns="0" rIns="0" bIns="0" rtlCol="0" anchor="t"/>
          <a:lstStyle/>
          <a:p>
            <a:pPr marL="0" indent="0" algn="l">
              <a:lnSpc>
                <a:spcPts val="2100"/>
              </a:lnSpc>
              <a:buNone/>
            </a:pPr>
            <a:r>
              <a:rPr lang="en-US" sz="1600" dirty="0">
                <a:solidFill>
                  <a:srgbClr val="000000"/>
                </a:solidFill>
                <a:latin typeface="DM Sans" pitchFamily="34" charset="0"/>
                <a:ea typeface="DM Sans" pitchFamily="34" charset="-122"/>
                <a:cs typeface="DM Sans" pitchFamily="34" charset="-120"/>
              </a:rPr>
              <a:t> </a:t>
            </a:r>
            <a:endParaRPr lang="en-US" sz="1600" dirty="0"/>
          </a:p>
        </p:txBody>
      </p:sp>
      <p:pic>
        <p:nvPicPr>
          <p:cNvPr id="4098" name="Picture 2" descr="Surface blanche à rayures rondes Couverture souple blanche | Vecteur Premium">
            <a:extLst>
              <a:ext uri="{FF2B5EF4-FFF2-40B4-BE49-F238E27FC236}">
                <a16:creationId xmlns:a16="http://schemas.microsoft.com/office/drawing/2014/main" id="{FF40110F-DB0D-31EE-AAD1-87F39873676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53200" y="7641312"/>
            <a:ext cx="2577200" cy="46666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D26E6C6A-E38A-AAE8-8197-254AC317EE05}"/>
              </a:ext>
            </a:extLst>
          </p:cNvPr>
          <p:cNvPicPr>
            <a:picLocks noChangeAspect="1"/>
          </p:cNvPicPr>
          <p:nvPr/>
        </p:nvPicPr>
        <p:blipFill>
          <a:blip r:embed="rId5"/>
          <a:stretch>
            <a:fillRect/>
          </a:stretch>
        </p:blipFill>
        <p:spPr>
          <a:xfrm>
            <a:off x="7066241" y="2406372"/>
            <a:ext cx="6992326" cy="43916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687229"/>
            <a:ext cx="844272" cy="315158"/>
          </a:xfrm>
          <a:prstGeom prst="roundRect">
            <a:avLst>
              <a:gd name="adj" fmla="val 7341"/>
            </a:avLst>
          </a:prstGeom>
          <a:solidFill>
            <a:srgbClr val="E6E6E6"/>
          </a:solidFill>
          <a:ln/>
        </p:spPr>
      </p:sp>
      <p:sp>
        <p:nvSpPr>
          <p:cNvPr id="3" name="Text 1"/>
          <p:cNvSpPr/>
          <p:nvPr/>
        </p:nvSpPr>
        <p:spPr>
          <a:xfrm>
            <a:off x="909399" y="744974"/>
            <a:ext cx="613053" cy="199668"/>
          </a:xfrm>
          <a:prstGeom prst="rect">
            <a:avLst/>
          </a:prstGeom>
          <a:noFill/>
          <a:ln/>
        </p:spPr>
        <p:txBody>
          <a:bodyPr wrap="non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PIPELINE</a:t>
            </a:r>
            <a:endParaRPr lang="en-US" sz="1200" dirty="0"/>
          </a:p>
        </p:txBody>
      </p:sp>
      <p:sp>
        <p:nvSpPr>
          <p:cNvPr id="4" name="Text 2"/>
          <p:cNvSpPr/>
          <p:nvPr/>
        </p:nvSpPr>
        <p:spPr>
          <a:xfrm>
            <a:off x="793790" y="1067872"/>
            <a:ext cx="11354157" cy="578287"/>
          </a:xfrm>
          <a:prstGeom prst="rect">
            <a:avLst/>
          </a:prstGeom>
          <a:noFill/>
          <a:ln/>
        </p:spPr>
        <p:txBody>
          <a:bodyPr wrap="none" lIns="0" tIns="0" rIns="0" bIns="0" rtlCol="0" anchor="t"/>
          <a:lstStyle/>
          <a:p>
            <a:pPr marL="0" indent="0" algn="l">
              <a:lnSpc>
                <a:spcPts val="4550"/>
              </a:lnSpc>
              <a:buNone/>
            </a:pPr>
            <a:r>
              <a:rPr lang="en-US" sz="3750" dirty="0">
                <a:solidFill>
                  <a:srgbClr val="171717"/>
                </a:solidFill>
                <a:latin typeface="Space Grotesk Medium" pitchFamily="34" charset="0"/>
                <a:ea typeface="Space Grotesk Medium" pitchFamily="34" charset="-122"/>
                <a:cs typeface="Space Grotesk Medium" pitchFamily="34" charset="-120"/>
              </a:rPr>
              <a:t>Pipeline Technique — Prétraitement des Données</a:t>
            </a:r>
            <a:endParaRPr lang="en-US" sz="3750" dirty="0"/>
          </a:p>
        </p:txBody>
      </p:sp>
      <p:sp>
        <p:nvSpPr>
          <p:cNvPr id="5" name="Text 3"/>
          <p:cNvSpPr/>
          <p:nvPr/>
        </p:nvSpPr>
        <p:spPr>
          <a:xfrm>
            <a:off x="793790" y="2055733"/>
            <a:ext cx="2409944" cy="289084"/>
          </a:xfrm>
          <a:prstGeom prst="rect">
            <a:avLst/>
          </a:prstGeom>
          <a:noFill/>
          <a:ln/>
        </p:spPr>
        <p:txBody>
          <a:bodyPr wrap="none" lIns="0" tIns="0" rIns="0" bIns="0" rtlCol="0" anchor="t"/>
          <a:lstStyle/>
          <a:p>
            <a:pPr marL="0" indent="0" algn="l">
              <a:lnSpc>
                <a:spcPts val="2250"/>
              </a:lnSpc>
              <a:buNone/>
            </a:pPr>
            <a:r>
              <a:rPr lang="en-US" sz="1850" dirty="0">
                <a:solidFill>
                  <a:srgbClr val="171717"/>
                </a:solidFill>
                <a:latin typeface="Space Grotesk Medium" pitchFamily="34" charset="0"/>
                <a:ea typeface="Space Grotesk Medium" pitchFamily="34" charset="-122"/>
                <a:cs typeface="Space Grotesk Medium" pitchFamily="34" charset="-120"/>
              </a:rPr>
              <a:t>Étapes du Pipeline</a:t>
            </a:r>
            <a:endParaRPr lang="en-US" sz="1850" dirty="0"/>
          </a:p>
        </p:txBody>
      </p:sp>
      <p:sp>
        <p:nvSpPr>
          <p:cNvPr id="6" name="Text 4"/>
          <p:cNvSpPr/>
          <p:nvPr/>
        </p:nvSpPr>
        <p:spPr>
          <a:xfrm>
            <a:off x="793790" y="2529126"/>
            <a:ext cx="192762" cy="231338"/>
          </a:xfrm>
          <a:prstGeom prst="rect">
            <a:avLst/>
          </a:prstGeom>
          <a:noFill/>
          <a:ln/>
        </p:spPr>
        <p:txBody>
          <a:bodyPr wrap="none" lIns="0" tIns="0" rIns="0" bIns="0" rtlCol="0" anchor="t"/>
          <a:lstStyle/>
          <a:p>
            <a:pPr marL="0" indent="0" algn="l">
              <a:lnSpc>
                <a:spcPts val="1950"/>
              </a:lnSpc>
              <a:buNone/>
            </a:pPr>
            <a:r>
              <a:rPr lang="en-US" sz="1500" dirty="0">
                <a:solidFill>
                  <a:srgbClr val="2A2A2A"/>
                </a:solidFill>
                <a:latin typeface="Space Grotesk Light" pitchFamily="34" charset="0"/>
                <a:ea typeface="Space Grotesk Light" pitchFamily="34" charset="-122"/>
                <a:cs typeface="Space Grotesk Light" pitchFamily="34" charset="-120"/>
              </a:rPr>
              <a:t>01</a:t>
            </a:r>
            <a:endParaRPr lang="en-US" sz="1500" dirty="0"/>
          </a:p>
        </p:txBody>
      </p:sp>
      <p:sp>
        <p:nvSpPr>
          <p:cNvPr id="7" name="Shape 5"/>
          <p:cNvSpPr/>
          <p:nvPr/>
        </p:nvSpPr>
        <p:spPr>
          <a:xfrm>
            <a:off x="793790" y="2824163"/>
            <a:ext cx="3061216" cy="22860"/>
          </a:xfrm>
          <a:prstGeom prst="rect">
            <a:avLst/>
          </a:prstGeom>
          <a:solidFill>
            <a:srgbClr val="171717"/>
          </a:solidFill>
          <a:ln/>
        </p:spPr>
      </p:sp>
      <p:sp>
        <p:nvSpPr>
          <p:cNvPr id="8" name="Text 6"/>
          <p:cNvSpPr/>
          <p:nvPr/>
        </p:nvSpPr>
        <p:spPr>
          <a:xfrm>
            <a:off x="793790" y="2966204"/>
            <a:ext cx="2978825" cy="289084"/>
          </a:xfrm>
          <a:prstGeom prst="rect">
            <a:avLst/>
          </a:prstGeom>
          <a:noFill/>
          <a:ln/>
        </p:spPr>
        <p:txBody>
          <a:bodyPr wrap="none" lIns="0" tIns="0" rIns="0" bIns="0" rtlCol="0" anchor="t"/>
          <a:lstStyle/>
          <a:p>
            <a:pPr marL="0" indent="0" algn="l">
              <a:lnSpc>
                <a:spcPts val="2250"/>
              </a:lnSpc>
              <a:buNone/>
            </a:pPr>
            <a:r>
              <a:rPr lang="en-US" sz="1850" dirty="0">
                <a:solidFill>
                  <a:srgbClr val="2A2A2A"/>
                </a:solidFill>
                <a:latin typeface="Space Grotesk Medium" pitchFamily="34" charset="0"/>
                <a:ea typeface="Space Grotesk Medium" pitchFamily="34" charset="-122"/>
                <a:cs typeface="Space Grotesk Medium" pitchFamily="34" charset="-120"/>
              </a:rPr>
              <a:t>Chargement des données</a:t>
            </a:r>
            <a:endParaRPr lang="en-US" sz="1850" dirty="0"/>
          </a:p>
        </p:txBody>
      </p:sp>
      <p:sp>
        <p:nvSpPr>
          <p:cNvPr id="9" name="Text 7"/>
          <p:cNvSpPr/>
          <p:nvPr/>
        </p:nvSpPr>
        <p:spPr>
          <a:xfrm>
            <a:off x="793790" y="3419118"/>
            <a:ext cx="3061216" cy="399336"/>
          </a:xfrm>
          <a:prstGeom prst="rect">
            <a:avLst/>
          </a:prstGeom>
          <a:noFill/>
          <a:ln/>
        </p:spPr>
        <p:txBody>
          <a:bodyPr wrap="squar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Import du dataset German Credit via pandas et exploration initiale.</a:t>
            </a:r>
            <a:endParaRPr lang="en-US" sz="1200" dirty="0"/>
          </a:p>
        </p:txBody>
      </p:sp>
      <p:sp>
        <p:nvSpPr>
          <p:cNvPr id="10" name="Text 8"/>
          <p:cNvSpPr/>
          <p:nvPr/>
        </p:nvSpPr>
        <p:spPr>
          <a:xfrm>
            <a:off x="4018836" y="2529126"/>
            <a:ext cx="192762" cy="231338"/>
          </a:xfrm>
          <a:prstGeom prst="rect">
            <a:avLst/>
          </a:prstGeom>
          <a:noFill/>
          <a:ln/>
        </p:spPr>
        <p:txBody>
          <a:bodyPr wrap="none" lIns="0" tIns="0" rIns="0" bIns="0" rtlCol="0" anchor="t"/>
          <a:lstStyle/>
          <a:p>
            <a:pPr marL="0" indent="0" algn="l">
              <a:lnSpc>
                <a:spcPts val="1950"/>
              </a:lnSpc>
              <a:buNone/>
            </a:pPr>
            <a:r>
              <a:rPr lang="en-US" sz="1500" dirty="0">
                <a:solidFill>
                  <a:srgbClr val="2A2A2A"/>
                </a:solidFill>
                <a:latin typeface="Space Grotesk Light" pitchFamily="34" charset="0"/>
                <a:ea typeface="Space Grotesk Light" pitchFamily="34" charset="-122"/>
                <a:cs typeface="Space Grotesk Light" pitchFamily="34" charset="-120"/>
              </a:rPr>
              <a:t>02</a:t>
            </a:r>
            <a:endParaRPr lang="en-US" sz="1500" dirty="0"/>
          </a:p>
        </p:txBody>
      </p:sp>
      <p:sp>
        <p:nvSpPr>
          <p:cNvPr id="11" name="Shape 9"/>
          <p:cNvSpPr/>
          <p:nvPr/>
        </p:nvSpPr>
        <p:spPr>
          <a:xfrm>
            <a:off x="4018836" y="2824163"/>
            <a:ext cx="3061216" cy="22860"/>
          </a:xfrm>
          <a:prstGeom prst="rect">
            <a:avLst/>
          </a:prstGeom>
          <a:solidFill>
            <a:srgbClr val="4A5F73"/>
          </a:solidFill>
          <a:ln/>
        </p:spPr>
      </p:sp>
      <p:sp>
        <p:nvSpPr>
          <p:cNvPr id="12" name="Text 10"/>
          <p:cNvSpPr/>
          <p:nvPr/>
        </p:nvSpPr>
        <p:spPr>
          <a:xfrm>
            <a:off x="4018836" y="2966204"/>
            <a:ext cx="2746891" cy="289084"/>
          </a:xfrm>
          <a:prstGeom prst="rect">
            <a:avLst/>
          </a:prstGeom>
          <a:noFill/>
          <a:ln/>
        </p:spPr>
        <p:txBody>
          <a:bodyPr wrap="none" lIns="0" tIns="0" rIns="0" bIns="0" rtlCol="0" anchor="t"/>
          <a:lstStyle/>
          <a:p>
            <a:pPr marL="0" indent="0" algn="l">
              <a:lnSpc>
                <a:spcPts val="2250"/>
              </a:lnSpc>
              <a:buNone/>
            </a:pPr>
            <a:r>
              <a:rPr lang="en-US" sz="1850" dirty="0">
                <a:solidFill>
                  <a:srgbClr val="2A2A2A"/>
                </a:solidFill>
                <a:latin typeface="Space Grotesk Medium" pitchFamily="34" charset="0"/>
                <a:ea typeface="Space Grotesk Medium" pitchFamily="34" charset="-122"/>
                <a:cs typeface="Space Grotesk Medium" pitchFamily="34" charset="-120"/>
              </a:rPr>
              <a:t>Encodage des variables</a:t>
            </a:r>
            <a:endParaRPr lang="en-US" sz="1850" dirty="0"/>
          </a:p>
        </p:txBody>
      </p:sp>
      <p:sp>
        <p:nvSpPr>
          <p:cNvPr id="13" name="Text 11"/>
          <p:cNvSpPr/>
          <p:nvPr/>
        </p:nvSpPr>
        <p:spPr>
          <a:xfrm>
            <a:off x="4018836" y="3419118"/>
            <a:ext cx="3061216" cy="599003"/>
          </a:xfrm>
          <a:prstGeom prst="rect">
            <a:avLst/>
          </a:prstGeom>
          <a:noFill/>
          <a:ln/>
        </p:spPr>
        <p:txBody>
          <a:bodyPr wrap="squar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Transformation des variables catégorielles en valeurs numériques (</a:t>
            </a:r>
            <a:r>
              <a:rPr lang="en-US" sz="1200" b="1" dirty="0">
                <a:solidFill>
                  <a:srgbClr val="2A2A2A"/>
                </a:solidFill>
                <a:latin typeface="DM Sans" pitchFamily="34" charset="0"/>
                <a:ea typeface="DM Sans" pitchFamily="34" charset="-122"/>
                <a:cs typeface="DM Sans" pitchFamily="34" charset="-120"/>
              </a:rPr>
              <a:t>LabelEncoder / OneHotEncoder</a:t>
            </a:r>
            <a:r>
              <a:rPr lang="en-US" sz="1200" dirty="0">
                <a:solidFill>
                  <a:srgbClr val="2A2A2A"/>
                </a:solidFill>
                <a:latin typeface="DM Sans" pitchFamily="34" charset="0"/>
                <a:ea typeface="DM Sans" pitchFamily="34" charset="-122"/>
                <a:cs typeface="DM Sans" pitchFamily="34" charset="-120"/>
              </a:rPr>
              <a:t>).</a:t>
            </a:r>
            <a:endParaRPr lang="en-US" sz="1200" dirty="0"/>
          </a:p>
        </p:txBody>
      </p:sp>
      <p:sp>
        <p:nvSpPr>
          <p:cNvPr id="14" name="Text 12"/>
          <p:cNvSpPr/>
          <p:nvPr/>
        </p:nvSpPr>
        <p:spPr>
          <a:xfrm>
            <a:off x="793790" y="4326493"/>
            <a:ext cx="192762" cy="231338"/>
          </a:xfrm>
          <a:prstGeom prst="rect">
            <a:avLst/>
          </a:prstGeom>
          <a:noFill/>
          <a:ln/>
        </p:spPr>
        <p:txBody>
          <a:bodyPr wrap="none" lIns="0" tIns="0" rIns="0" bIns="0" rtlCol="0" anchor="t"/>
          <a:lstStyle/>
          <a:p>
            <a:pPr marL="0" indent="0" algn="l">
              <a:lnSpc>
                <a:spcPts val="1950"/>
              </a:lnSpc>
              <a:buNone/>
            </a:pPr>
            <a:r>
              <a:rPr lang="en-US" sz="1500" dirty="0">
                <a:solidFill>
                  <a:srgbClr val="2A2A2A"/>
                </a:solidFill>
                <a:latin typeface="Space Grotesk Light" pitchFamily="34" charset="0"/>
                <a:ea typeface="Space Grotesk Light" pitchFamily="34" charset="-122"/>
                <a:cs typeface="Space Grotesk Light" pitchFamily="34" charset="-120"/>
              </a:rPr>
              <a:t>03</a:t>
            </a:r>
            <a:endParaRPr lang="en-US" sz="1500" dirty="0"/>
          </a:p>
        </p:txBody>
      </p:sp>
      <p:sp>
        <p:nvSpPr>
          <p:cNvPr id="15" name="Shape 13"/>
          <p:cNvSpPr/>
          <p:nvPr/>
        </p:nvSpPr>
        <p:spPr>
          <a:xfrm>
            <a:off x="793790" y="4621530"/>
            <a:ext cx="3061216" cy="22860"/>
          </a:xfrm>
          <a:prstGeom prst="rect">
            <a:avLst/>
          </a:prstGeom>
          <a:solidFill>
            <a:srgbClr val="2A2A2A"/>
          </a:solidFill>
          <a:ln/>
        </p:spPr>
      </p:sp>
      <p:sp>
        <p:nvSpPr>
          <p:cNvPr id="16" name="Text 14"/>
          <p:cNvSpPr/>
          <p:nvPr/>
        </p:nvSpPr>
        <p:spPr>
          <a:xfrm>
            <a:off x="793790" y="4763572"/>
            <a:ext cx="2409944" cy="289084"/>
          </a:xfrm>
          <a:prstGeom prst="rect">
            <a:avLst/>
          </a:prstGeom>
          <a:noFill/>
          <a:ln/>
        </p:spPr>
        <p:txBody>
          <a:bodyPr wrap="none" lIns="0" tIns="0" rIns="0" bIns="0" rtlCol="0" anchor="t"/>
          <a:lstStyle/>
          <a:p>
            <a:pPr marL="0" indent="0" algn="l">
              <a:lnSpc>
                <a:spcPts val="2250"/>
              </a:lnSpc>
              <a:buNone/>
            </a:pPr>
            <a:r>
              <a:rPr lang="en-US" sz="1850" dirty="0">
                <a:solidFill>
                  <a:srgbClr val="2A2A2A"/>
                </a:solidFill>
                <a:latin typeface="Space Grotesk Medium" pitchFamily="34" charset="0"/>
                <a:ea typeface="Space Grotesk Medium" pitchFamily="34" charset="-122"/>
                <a:cs typeface="Space Grotesk Medium" pitchFamily="34" charset="-120"/>
              </a:rPr>
              <a:t>Normalisation</a:t>
            </a:r>
            <a:endParaRPr lang="en-US" sz="1850" dirty="0"/>
          </a:p>
        </p:txBody>
      </p:sp>
      <p:sp>
        <p:nvSpPr>
          <p:cNvPr id="17" name="Text 15"/>
          <p:cNvSpPr/>
          <p:nvPr/>
        </p:nvSpPr>
        <p:spPr>
          <a:xfrm>
            <a:off x="793790" y="5216485"/>
            <a:ext cx="3061216" cy="599003"/>
          </a:xfrm>
          <a:prstGeom prst="rect">
            <a:avLst/>
          </a:prstGeom>
          <a:noFill/>
          <a:ln/>
        </p:spPr>
        <p:txBody>
          <a:bodyPr wrap="squar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Mise à l'échelle des variables numériques avec </a:t>
            </a:r>
            <a:r>
              <a:rPr lang="en-US" sz="1200" b="1" dirty="0">
                <a:solidFill>
                  <a:srgbClr val="2A2A2A"/>
                </a:solidFill>
                <a:latin typeface="DM Sans" pitchFamily="34" charset="0"/>
                <a:ea typeface="DM Sans" pitchFamily="34" charset="-122"/>
                <a:cs typeface="DM Sans" pitchFamily="34" charset="-120"/>
              </a:rPr>
              <a:t>StandardScaler</a:t>
            </a:r>
            <a:r>
              <a:rPr lang="en-US" sz="1200" dirty="0">
                <a:solidFill>
                  <a:srgbClr val="2A2A2A"/>
                </a:solidFill>
                <a:latin typeface="DM Sans" pitchFamily="34" charset="0"/>
                <a:ea typeface="DM Sans" pitchFamily="34" charset="-122"/>
                <a:cs typeface="DM Sans" pitchFamily="34" charset="-120"/>
              </a:rPr>
              <a:t> pour uniformiser les plages de valeurs.</a:t>
            </a:r>
            <a:endParaRPr lang="en-US" sz="1200" dirty="0"/>
          </a:p>
        </p:txBody>
      </p:sp>
      <p:sp>
        <p:nvSpPr>
          <p:cNvPr id="18" name="Text 16"/>
          <p:cNvSpPr/>
          <p:nvPr/>
        </p:nvSpPr>
        <p:spPr>
          <a:xfrm>
            <a:off x="4018836" y="4326493"/>
            <a:ext cx="192762" cy="231338"/>
          </a:xfrm>
          <a:prstGeom prst="rect">
            <a:avLst/>
          </a:prstGeom>
          <a:noFill/>
          <a:ln/>
        </p:spPr>
        <p:txBody>
          <a:bodyPr wrap="none" lIns="0" tIns="0" rIns="0" bIns="0" rtlCol="0" anchor="t"/>
          <a:lstStyle/>
          <a:p>
            <a:pPr marL="0" indent="0" algn="l">
              <a:lnSpc>
                <a:spcPts val="1950"/>
              </a:lnSpc>
              <a:buNone/>
            </a:pPr>
            <a:r>
              <a:rPr lang="en-US" sz="1500" dirty="0">
                <a:solidFill>
                  <a:srgbClr val="2A2A2A"/>
                </a:solidFill>
                <a:latin typeface="Space Grotesk Light" pitchFamily="34" charset="0"/>
                <a:ea typeface="Space Grotesk Light" pitchFamily="34" charset="-122"/>
                <a:cs typeface="Space Grotesk Light" pitchFamily="34" charset="-120"/>
              </a:rPr>
              <a:t>04</a:t>
            </a:r>
            <a:endParaRPr lang="en-US" sz="1500" dirty="0"/>
          </a:p>
        </p:txBody>
      </p:sp>
      <p:sp>
        <p:nvSpPr>
          <p:cNvPr id="19" name="Shape 17"/>
          <p:cNvSpPr/>
          <p:nvPr/>
        </p:nvSpPr>
        <p:spPr>
          <a:xfrm>
            <a:off x="4018836" y="4621530"/>
            <a:ext cx="3061216" cy="22860"/>
          </a:xfrm>
          <a:prstGeom prst="rect">
            <a:avLst/>
          </a:prstGeom>
          <a:solidFill>
            <a:srgbClr val="B5B5B5"/>
          </a:solidFill>
          <a:ln/>
        </p:spPr>
      </p:sp>
      <p:sp>
        <p:nvSpPr>
          <p:cNvPr id="20" name="Text 18"/>
          <p:cNvSpPr/>
          <p:nvPr/>
        </p:nvSpPr>
        <p:spPr>
          <a:xfrm>
            <a:off x="4018836" y="4763572"/>
            <a:ext cx="2587585" cy="289084"/>
          </a:xfrm>
          <a:prstGeom prst="rect">
            <a:avLst/>
          </a:prstGeom>
          <a:noFill/>
          <a:ln/>
        </p:spPr>
        <p:txBody>
          <a:bodyPr wrap="none" lIns="0" tIns="0" rIns="0" bIns="0" rtlCol="0" anchor="t"/>
          <a:lstStyle/>
          <a:p>
            <a:pPr marL="0" indent="0" algn="l">
              <a:lnSpc>
                <a:spcPts val="2250"/>
              </a:lnSpc>
              <a:buNone/>
            </a:pPr>
            <a:r>
              <a:rPr lang="en-US" sz="1850" dirty="0">
                <a:solidFill>
                  <a:srgbClr val="2A2A2A"/>
                </a:solidFill>
                <a:latin typeface="Space Grotesk Medium" pitchFamily="34" charset="0"/>
                <a:ea typeface="Space Grotesk Medium" pitchFamily="34" charset="-122"/>
                <a:cs typeface="Space Grotesk Medium" pitchFamily="34" charset="-120"/>
              </a:rPr>
              <a:t>Séparation Train / Test</a:t>
            </a:r>
            <a:endParaRPr lang="en-US" sz="1850" dirty="0"/>
          </a:p>
        </p:txBody>
      </p:sp>
      <p:sp>
        <p:nvSpPr>
          <p:cNvPr id="21" name="Text 19"/>
          <p:cNvSpPr/>
          <p:nvPr/>
        </p:nvSpPr>
        <p:spPr>
          <a:xfrm>
            <a:off x="4018836" y="5216485"/>
            <a:ext cx="3061216" cy="399336"/>
          </a:xfrm>
          <a:prstGeom prst="rect">
            <a:avLst/>
          </a:prstGeom>
          <a:noFill/>
          <a:ln/>
        </p:spPr>
        <p:txBody>
          <a:bodyPr wrap="squar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Division du dataset en 80% entraînement et 20% test avec </a:t>
            </a:r>
            <a:r>
              <a:rPr lang="en-US" sz="1200" b="1" dirty="0">
                <a:solidFill>
                  <a:srgbClr val="2A2A2A"/>
                </a:solidFill>
                <a:latin typeface="DM Sans" pitchFamily="34" charset="0"/>
                <a:ea typeface="DM Sans" pitchFamily="34" charset="-122"/>
                <a:cs typeface="DM Sans" pitchFamily="34" charset="-120"/>
              </a:rPr>
              <a:t>train_test_split</a:t>
            </a:r>
            <a:r>
              <a:rPr lang="en-US" sz="1200" dirty="0">
                <a:solidFill>
                  <a:srgbClr val="2A2A2A"/>
                </a:solidFill>
                <a:latin typeface="DM Sans" pitchFamily="34" charset="0"/>
                <a:ea typeface="DM Sans" pitchFamily="34" charset="-122"/>
                <a:cs typeface="DM Sans" pitchFamily="34" charset="-120"/>
              </a:rPr>
              <a:t>.</a:t>
            </a:r>
            <a:endParaRPr lang="en-US" sz="1200" dirty="0"/>
          </a:p>
        </p:txBody>
      </p:sp>
      <p:sp>
        <p:nvSpPr>
          <p:cNvPr id="22" name="Text 20"/>
          <p:cNvSpPr/>
          <p:nvPr/>
        </p:nvSpPr>
        <p:spPr>
          <a:xfrm>
            <a:off x="793790" y="6123861"/>
            <a:ext cx="192762" cy="231338"/>
          </a:xfrm>
          <a:prstGeom prst="rect">
            <a:avLst/>
          </a:prstGeom>
          <a:noFill/>
          <a:ln/>
        </p:spPr>
        <p:txBody>
          <a:bodyPr wrap="none" lIns="0" tIns="0" rIns="0" bIns="0" rtlCol="0" anchor="t"/>
          <a:lstStyle/>
          <a:p>
            <a:pPr marL="0" indent="0" algn="l">
              <a:lnSpc>
                <a:spcPts val="1950"/>
              </a:lnSpc>
              <a:buNone/>
            </a:pPr>
            <a:r>
              <a:rPr lang="en-US" sz="1500" dirty="0">
                <a:solidFill>
                  <a:srgbClr val="2A2A2A"/>
                </a:solidFill>
                <a:latin typeface="Space Grotesk Light" pitchFamily="34" charset="0"/>
                <a:ea typeface="Space Grotesk Light" pitchFamily="34" charset="-122"/>
                <a:cs typeface="Space Grotesk Light" pitchFamily="34" charset="-120"/>
              </a:rPr>
              <a:t>05</a:t>
            </a:r>
            <a:endParaRPr lang="en-US" sz="1500" dirty="0"/>
          </a:p>
        </p:txBody>
      </p:sp>
      <p:sp>
        <p:nvSpPr>
          <p:cNvPr id="23" name="Shape 21"/>
          <p:cNvSpPr/>
          <p:nvPr/>
        </p:nvSpPr>
        <p:spPr>
          <a:xfrm>
            <a:off x="793790" y="6418898"/>
            <a:ext cx="6286262" cy="22860"/>
          </a:xfrm>
          <a:prstGeom prst="rect">
            <a:avLst/>
          </a:prstGeom>
          <a:solidFill>
            <a:srgbClr val="E5E5E3"/>
          </a:solidFill>
          <a:ln/>
        </p:spPr>
      </p:sp>
      <p:sp>
        <p:nvSpPr>
          <p:cNvPr id="24" name="Text 22"/>
          <p:cNvSpPr/>
          <p:nvPr/>
        </p:nvSpPr>
        <p:spPr>
          <a:xfrm>
            <a:off x="793790" y="6560939"/>
            <a:ext cx="2848213" cy="289084"/>
          </a:xfrm>
          <a:prstGeom prst="rect">
            <a:avLst/>
          </a:prstGeom>
          <a:noFill/>
          <a:ln/>
        </p:spPr>
        <p:txBody>
          <a:bodyPr wrap="none" lIns="0" tIns="0" rIns="0" bIns="0" rtlCol="0" anchor="t"/>
          <a:lstStyle/>
          <a:p>
            <a:pPr marL="0" indent="0" algn="l">
              <a:lnSpc>
                <a:spcPts val="2250"/>
              </a:lnSpc>
              <a:buNone/>
            </a:pPr>
            <a:r>
              <a:rPr lang="en-US" sz="1850" dirty="0">
                <a:solidFill>
                  <a:srgbClr val="2A2A2A"/>
                </a:solidFill>
                <a:latin typeface="Space Grotesk Medium" pitchFamily="34" charset="0"/>
                <a:ea typeface="Space Grotesk Medium" pitchFamily="34" charset="-122"/>
                <a:cs typeface="Space Grotesk Medium" pitchFamily="34" charset="-120"/>
              </a:rPr>
              <a:t>Entraînement du modèle</a:t>
            </a:r>
            <a:endParaRPr lang="en-US" sz="1850" dirty="0"/>
          </a:p>
        </p:txBody>
      </p:sp>
      <p:sp>
        <p:nvSpPr>
          <p:cNvPr id="25" name="Text 23"/>
          <p:cNvSpPr/>
          <p:nvPr/>
        </p:nvSpPr>
        <p:spPr>
          <a:xfrm>
            <a:off x="793790" y="7013853"/>
            <a:ext cx="6286262" cy="199668"/>
          </a:xfrm>
          <a:prstGeom prst="rect">
            <a:avLst/>
          </a:prstGeom>
          <a:noFill/>
          <a:ln/>
        </p:spPr>
        <p:txBody>
          <a:bodyPr wrap="non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Ajustement de la </a:t>
            </a:r>
            <a:r>
              <a:rPr lang="en-US" sz="1200" b="1" dirty="0">
                <a:solidFill>
                  <a:srgbClr val="2A2A2A"/>
                </a:solidFill>
                <a:latin typeface="DM Sans" pitchFamily="34" charset="0"/>
                <a:ea typeface="DM Sans" pitchFamily="34" charset="-122"/>
                <a:cs typeface="DM Sans" pitchFamily="34" charset="-120"/>
              </a:rPr>
              <a:t>LogisticRegression</a:t>
            </a:r>
            <a:r>
              <a:rPr lang="en-US" sz="1200" dirty="0">
                <a:solidFill>
                  <a:srgbClr val="2A2A2A"/>
                </a:solidFill>
                <a:latin typeface="DM Sans" pitchFamily="34" charset="0"/>
                <a:ea typeface="DM Sans" pitchFamily="34" charset="-122"/>
                <a:cs typeface="DM Sans" pitchFamily="34" charset="-120"/>
              </a:rPr>
              <a:t> de scikit-learn sur les données d'entraînement.</a:t>
            </a:r>
            <a:endParaRPr lang="en-US" sz="1200" dirty="0"/>
          </a:p>
        </p:txBody>
      </p:sp>
      <p:sp>
        <p:nvSpPr>
          <p:cNvPr id="27" name="Text 25"/>
          <p:cNvSpPr/>
          <p:nvPr/>
        </p:nvSpPr>
        <p:spPr>
          <a:xfrm>
            <a:off x="7611904" y="2055733"/>
            <a:ext cx="3862983" cy="289084"/>
          </a:xfrm>
          <a:prstGeom prst="rect">
            <a:avLst/>
          </a:prstGeom>
          <a:noFill/>
          <a:ln/>
        </p:spPr>
        <p:txBody>
          <a:bodyPr wrap="none" lIns="0" tIns="0" rIns="0" bIns="0" rtlCol="0" anchor="t"/>
          <a:lstStyle/>
          <a:p>
            <a:pPr marL="0" indent="0" algn="l">
              <a:lnSpc>
                <a:spcPts val="2250"/>
              </a:lnSpc>
              <a:buNone/>
            </a:pPr>
            <a:r>
              <a:rPr lang="en-US" sz="1850" dirty="0">
                <a:solidFill>
                  <a:srgbClr val="FFFFFF"/>
                </a:solidFill>
                <a:latin typeface="Space Grotesk Medium" pitchFamily="34" charset="0"/>
                <a:ea typeface="Space Grotesk Medium" pitchFamily="34" charset="-122"/>
                <a:cs typeface="Space Grotesk Medium" pitchFamily="34" charset="-120"/>
              </a:rPr>
              <a:t> </a:t>
            </a:r>
            <a:endParaRPr lang="en-US" sz="1850" dirty="0"/>
          </a:p>
        </p:txBody>
      </p:sp>
      <p:sp>
        <p:nvSpPr>
          <p:cNvPr id="28" name="Text 26"/>
          <p:cNvSpPr/>
          <p:nvPr/>
        </p:nvSpPr>
        <p:spPr>
          <a:xfrm>
            <a:off x="7611904" y="2508647"/>
            <a:ext cx="6178391" cy="399336"/>
          </a:xfrm>
          <a:prstGeom prst="rect">
            <a:avLst/>
          </a:prstGeom>
          <a:noFill/>
          <a:ln/>
        </p:spPr>
        <p:txBody>
          <a:bodyPr wrap="square" lIns="0" tIns="0" rIns="0" bIns="0" rtlCol="0" anchor="t"/>
          <a:lstStyle/>
          <a:p>
            <a:pPr marL="0" indent="0" algn="l">
              <a:lnSpc>
                <a:spcPts val="1550"/>
              </a:lnSpc>
              <a:buNone/>
            </a:pPr>
            <a:r>
              <a:rPr lang="en-US" sz="1200" dirty="0">
                <a:solidFill>
                  <a:srgbClr val="FFFFFF"/>
                </a:solidFill>
                <a:latin typeface="DM Sans" pitchFamily="34" charset="0"/>
                <a:ea typeface="DM Sans" pitchFamily="34" charset="-122"/>
                <a:cs typeface="DM Sans" pitchFamily="34" charset="-120"/>
              </a:rPr>
              <a:t> </a:t>
            </a:r>
            <a:endParaRPr lang="en-US" sz="1200" dirty="0"/>
          </a:p>
        </p:txBody>
      </p:sp>
      <p:sp>
        <p:nvSpPr>
          <p:cNvPr id="31" name="Text 28"/>
          <p:cNvSpPr/>
          <p:nvPr/>
        </p:nvSpPr>
        <p:spPr>
          <a:xfrm>
            <a:off x="8238411" y="3304223"/>
            <a:ext cx="5359122" cy="748665"/>
          </a:xfrm>
          <a:prstGeom prst="rect">
            <a:avLst/>
          </a:prstGeom>
          <a:noFill/>
          <a:ln/>
        </p:spPr>
        <p:txBody>
          <a:bodyPr wrap="square" lIns="0" tIns="0" rIns="0" bIns="0" rtlCol="0" anchor="t"/>
          <a:lstStyle/>
          <a:p>
            <a:pPr marL="0" indent="0" algn="l">
              <a:lnSpc>
                <a:spcPts val="1950"/>
              </a:lnSpc>
              <a:buNone/>
            </a:pPr>
            <a:r>
              <a:rPr lang="en-US" sz="1500" dirty="0">
                <a:solidFill>
                  <a:srgbClr val="000000"/>
                </a:solidFill>
                <a:latin typeface="DM Sans" pitchFamily="34" charset="0"/>
                <a:ea typeface="DM Sans" pitchFamily="34" charset="-122"/>
                <a:cs typeface="DM Sans" pitchFamily="34" charset="-120"/>
              </a:rPr>
              <a:t> </a:t>
            </a:r>
            <a:endParaRPr lang="en-US" sz="1500" dirty="0"/>
          </a:p>
        </p:txBody>
      </p:sp>
      <p:pic>
        <p:nvPicPr>
          <p:cNvPr id="5122" name="Picture 2" descr="Surface blanche à rayures rondes Couverture souple blanche | Vecteur Premium">
            <a:extLst>
              <a:ext uri="{FF2B5EF4-FFF2-40B4-BE49-F238E27FC236}">
                <a16:creationId xmlns:a16="http://schemas.microsoft.com/office/drawing/2014/main" id="{1DB83B1F-6A88-445C-4FCB-A9F9D78050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53017" y="7726679"/>
            <a:ext cx="2877383" cy="413987"/>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a:extLst>
              <a:ext uri="{FF2B5EF4-FFF2-40B4-BE49-F238E27FC236}">
                <a16:creationId xmlns:a16="http://schemas.microsoft.com/office/drawing/2014/main" id="{2A6C9E35-EBF2-870C-8A52-D44C1365E8D2}"/>
              </a:ext>
            </a:extLst>
          </p:cNvPr>
          <p:cNvPicPr>
            <a:picLocks noChangeAspect="1"/>
          </p:cNvPicPr>
          <p:nvPr/>
        </p:nvPicPr>
        <p:blipFill>
          <a:blip r:embed="rId4"/>
          <a:stretch>
            <a:fillRect/>
          </a:stretch>
        </p:blipFill>
        <p:spPr>
          <a:xfrm>
            <a:off x="7160799" y="2180433"/>
            <a:ext cx="7469601" cy="47877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793790" y="707231"/>
            <a:ext cx="1942148" cy="315158"/>
          </a:xfrm>
          <a:prstGeom prst="roundRect">
            <a:avLst>
              <a:gd name="adj" fmla="val 7341"/>
            </a:avLst>
          </a:prstGeom>
          <a:solidFill>
            <a:srgbClr val="E6E6E6"/>
          </a:solidFill>
          <a:ln/>
        </p:spPr>
      </p:sp>
      <p:sp>
        <p:nvSpPr>
          <p:cNvPr id="3" name="Text 1"/>
          <p:cNvSpPr/>
          <p:nvPr/>
        </p:nvSpPr>
        <p:spPr>
          <a:xfrm>
            <a:off x="909399" y="764977"/>
            <a:ext cx="1710928" cy="199668"/>
          </a:xfrm>
          <a:prstGeom prst="rect">
            <a:avLst/>
          </a:prstGeom>
          <a:noFill/>
          <a:ln/>
        </p:spPr>
        <p:txBody>
          <a:bodyPr wrap="non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PERFORMANCE INITIALE</a:t>
            </a:r>
            <a:endParaRPr lang="en-US" sz="1200" dirty="0"/>
          </a:p>
        </p:txBody>
      </p:sp>
      <p:sp>
        <p:nvSpPr>
          <p:cNvPr id="4" name="Text 2"/>
          <p:cNvSpPr/>
          <p:nvPr/>
        </p:nvSpPr>
        <p:spPr>
          <a:xfrm>
            <a:off x="793790" y="1087874"/>
            <a:ext cx="7604046" cy="578287"/>
          </a:xfrm>
          <a:prstGeom prst="rect">
            <a:avLst/>
          </a:prstGeom>
          <a:noFill/>
          <a:ln/>
        </p:spPr>
        <p:txBody>
          <a:bodyPr wrap="none" lIns="0" tIns="0" rIns="0" bIns="0" rtlCol="0" anchor="t"/>
          <a:lstStyle/>
          <a:p>
            <a:pPr marL="0" indent="0" algn="l">
              <a:lnSpc>
                <a:spcPts val="4550"/>
              </a:lnSpc>
              <a:buNone/>
            </a:pPr>
            <a:r>
              <a:rPr lang="en-US" sz="3750" dirty="0">
                <a:solidFill>
                  <a:srgbClr val="171717"/>
                </a:solidFill>
                <a:latin typeface="Space Grotesk Medium" pitchFamily="34" charset="0"/>
                <a:ea typeface="Space Grotesk Medium" pitchFamily="34" charset="-122"/>
                <a:cs typeface="Space Grotesk Medium" pitchFamily="34" charset="-120"/>
              </a:rPr>
              <a:t>Évaluation du Modèle — Seuil 0.5</a:t>
            </a:r>
            <a:endParaRPr lang="en-US" sz="3750" dirty="0"/>
          </a:p>
        </p:txBody>
      </p:sp>
      <p:sp>
        <p:nvSpPr>
          <p:cNvPr id="6" name="Text 4"/>
          <p:cNvSpPr/>
          <p:nvPr/>
        </p:nvSpPr>
        <p:spPr>
          <a:xfrm>
            <a:off x="847725" y="2075736"/>
            <a:ext cx="3933825" cy="289084"/>
          </a:xfrm>
          <a:prstGeom prst="rect">
            <a:avLst/>
          </a:prstGeom>
          <a:noFill/>
          <a:ln/>
        </p:spPr>
        <p:txBody>
          <a:bodyPr wrap="none" lIns="0" tIns="0" rIns="0" bIns="0" rtlCol="0" anchor="t"/>
          <a:lstStyle/>
          <a:p>
            <a:pPr marL="0" indent="0" algn="l">
              <a:lnSpc>
                <a:spcPts val="2250"/>
              </a:lnSpc>
              <a:buNone/>
            </a:pPr>
            <a:r>
              <a:rPr lang="en-US" sz="1850" dirty="0">
                <a:solidFill>
                  <a:srgbClr val="FFFFFF"/>
                </a:solidFill>
                <a:latin typeface="Space Grotesk Medium" pitchFamily="34" charset="0"/>
                <a:ea typeface="Space Grotesk Medium" pitchFamily="34" charset="-122"/>
                <a:cs typeface="Space Grotesk Medium" pitchFamily="34" charset="-120"/>
              </a:rPr>
              <a:t> </a:t>
            </a:r>
            <a:endParaRPr lang="en-US" sz="1850" dirty="0"/>
          </a:p>
        </p:txBody>
      </p:sp>
      <p:sp>
        <p:nvSpPr>
          <p:cNvPr id="7" name="Text 5"/>
          <p:cNvSpPr/>
          <p:nvPr/>
        </p:nvSpPr>
        <p:spPr>
          <a:xfrm>
            <a:off x="847725" y="2528649"/>
            <a:ext cx="5502712" cy="399336"/>
          </a:xfrm>
          <a:prstGeom prst="rect">
            <a:avLst/>
          </a:prstGeom>
          <a:noFill/>
          <a:ln/>
        </p:spPr>
        <p:txBody>
          <a:bodyPr wrap="square" lIns="0" tIns="0" rIns="0" bIns="0" rtlCol="0" anchor="t"/>
          <a:lstStyle/>
          <a:p>
            <a:pPr marL="0" indent="0" algn="l">
              <a:lnSpc>
                <a:spcPts val="1550"/>
              </a:lnSpc>
              <a:buNone/>
            </a:pPr>
            <a:r>
              <a:rPr lang="en-US" sz="1200" dirty="0">
                <a:solidFill>
                  <a:srgbClr val="FFFFFF"/>
                </a:solidFill>
                <a:latin typeface="DM Sans" pitchFamily="34" charset="0"/>
                <a:ea typeface="DM Sans" pitchFamily="34" charset="-122"/>
                <a:cs typeface="DM Sans" pitchFamily="34" charset="-120"/>
              </a:rPr>
              <a:t> </a:t>
            </a:r>
            <a:endParaRPr lang="en-US" sz="1200" dirty="0"/>
          </a:p>
        </p:txBody>
      </p:sp>
      <p:sp>
        <p:nvSpPr>
          <p:cNvPr id="10" name="Text 7"/>
          <p:cNvSpPr/>
          <p:nvPr/>
        </p:nvSpPr>
        <p:spPr>
          <a:xfrm>
            <a:off x="1474232" y="3324225"/>
            <a:ext cx="4683443" cy="748665"/>
          </a:xfrm>
          <a:prstGeom prst="rect">
            <a:avLst/>
          </a:prstGeom>
          <a:noFill/>
          <a:ln/>
        </p:spPr>
        <p:txBody>
          <a:bodyPr wrap="square" lIns="0" tIns="0" rIns="0" bIns="0" rtlCol="0" anchor="t"/>
          <a:lstStyle/>
          <a:p>
            <a:pPr marL="0" indent="0" algn="l">
              <a:lnSpc>
                <a:spcPts val="1950"/>
              </a:lnSpc>
              <a:buNone/>
            </a:pPr>
            <a:r>
              <a:rPr lang="en-US" sz="1500" dirty="0">
                <a:solidFill>
                  <a:srgbClr val="000000"/>
                </a:solidFill>
                <a:latin typeface="DM Sans" pitchFamily="34" charset="0"/>
                <a:ea typeface="DM Sans" pitchFamily="34" charset="-122"/>
                <a:cs typeface="DM Sans" pitchFamily="34" charset="-120"/>
              </a:rPr>
              <a:t> </a:t>
            </a:r>
            <a:endParaRPr lang="en-US" sz="1500" dirty="0"/>
          </a:p>
        </p:txBody>
      </p:sp>
      <p:sp>
        <p:nvSpPr>
          <p:cNvPr id="11" name="Text 8"/>
          <p:cNvSpPr/>
          <p:nvPr/>
        </p:nvSpPr>
        <p:spPr>
          <a:xfrm>
            <a:off x="6882289" y="2075736"/>
            <a:ext cx="3360301" cy="289084"/>
          </a:xfrm>
          <a:prstGeom prst="rect">
            <a:avLst/>
          </a:prstGeom>
          <a:noFill/>
          <a:ln/>
        </p:spPr>
        <p:txBody>
          <a:bodyPr wrap="none" lIns="0" tIns="0" rIns="0" bIns="0" rtlCol="0" anchor="t"/>
          <a:lstStyle/>
          <a:p>
            <a:pPr marL="0" indent="0" algn="l">
              <a:lnSpc>
                <a:spcPts val="2250"/>
              </a:lnSpc>
              <a:buNone/>
            </a:pPr>
            <a:r>
              <a:rPr lang="en-US" sz="1850" dirty="0">
                <a:solidFill>
                  <a:srgbClr val="171717"/>
                </a:solidFill>
                <a:latin typeface="Space Grotesk Medium" pitchFamily="34" charset="0"/>
                <a:ea typeface="Space Grotesk Medium" pitchFamily="34" charset="-122"/>
                <a:cs typeface="Space Grotesk Medium" pitchFamily="34" charset="-120"/>
              </a:rPr>
              <a:t>Interprétation des Métriques</a:t>
            </a:r>
            <a:endParaRPr lang="en-US" sz="1850" dirty="0"/>
          </a:p>
        </p:txBody>
      </p:sp>
      <p:sp>
        <p:nvSpPr>
          <p:cNvPr id="12" name="Text 9"/>
          <p:cNvSpPr/>
          <p:nvPr/>
        </p:nvSpPr>
        <p:spPr>
          <a:xfrm>
            <a:off x="6882289" y="2528649"/>
            <a:ext cx="6961823" cy="499110"/>
          </a:xfrm>
          <a:prstGeom prst="rect">
            <a:avLst/>
          </a:prstGeom>
          <a:noFill/>
          <a:ln/>
        </p:spPr>
        <p:txBody>
          <a:bodyPr wrap="square" lIns="0" tIns="0" rIns="0" bIns="0" rtlCol="0" anchor="t"/>
          <a:lstStyle/>
          <a:p>
            <a:pPr marL="0" indent="0" algn="l">
              <a:lnSpc>
                <a:spcPts val="1950"/>
              </a:lnSpc>
              <a:buNone/>
            </a:pPr>
            <a:r>
              <a:rPr lang="en-US" sz="1500" dirty="0">
                <a:solidFill>
                  <a:srgbClr val="2A2A2A"/>
                </a:solidFill>
                <a:latin typeface="DM Sans" pitchFamily="34" charset="0"/>
                <a:ea typeface="DM Sans" pitchFamily="34" charset="-122"/>
                <a:cs typeface="DM Sans" pitchFamily="34" charset="-120"/>
              </a:rPr>
              <a:t>Avec un seuil de décision à </a:t>
            </a:r>
            <a:r>
              <a:rPr lang="en-US" sz="1500" b="1" dirty="0">
                <a:solidFill>
                  <a:srgbClr val="2A2A2A"/>
                </a:solidFill>
                <a:latin typeface="DM Sans" pitchFamily="34" charset="0"/>
                <a:ea typeface="DM Sans" pitchFamily="34" charset="-122"/>
                <a:cs typeface="DM Sans" pitchFamily="34" charset="-120"/>
              </a:rPr>
              <a:t>0.5</a:t>
            </a:r>
            <a:r>
              <a:rPr lang="en-US" sz="1500" dirty="0">
                <a:solidFill>
                  <a:srgbClr val="2A2A2A"/>
                </a:solidFill>
                <a:latin typeface="DM Sans" pitchFamily="34" charset="0"/>
                <a:ea typeface="DM Sans" pitchFamily="34" charset="-122"/>
                <a:cs typeface="DM Sans" pitchFamily="34" charset="-120"/>
              </a:rPr>
              <a:t>, le modèle adopte une posture équilibrée entre les deux types d'erreurs :</a:t>
            </a:r>
            <a:endParaRPr lang="en-US" sz="1500" dirty="0"/>
          </a:p>
        </p:txBody>
      </p:sp>
      <p:sp>
        <p:nvSpPr>
          <p:cNvPr id="13" name="Shape 10"/>
          <p:cNvSpPr/>
          <p:nvPr/>
        </p:nvSpPr>
        <p:spPr>
          <a:xfrm>
            <a:off x="6882289" y="3212068"/>
            <a:ext cx="6961823" cy="1083826"/>
          </a:xfrm>
          <a:prstGeom prst="roundRect">
            <a:avLst>
              <a:gd name="adj" fmla="val 10124"/>
            </a:avLst>
          </a:prstGeom>
          <a:solidFill>
            <a:srgbClr val="FFFFFF"/>
          </a:solidFill>
          <a:ln w="22860">
            <a:solidFill>
              <a:srgbClr val="171717"/>
            </a:solidFill>
            <a:prstDash val="solid"/>
          </a:ln>
        </p:spPr>
      </p:sp>
      <p:sp>
        <p:nvSpPr>
          <p:cNvPr id="14" name="Shape 11"/>
          <p:cNvSpPr/>
          <p:nvPr/>
        </p:nvSpPr>
        <p:spPr>
          <a:xfrm>
            <a:off x="6859429" y="3212068"/>
            <a:ext cx="91440" cy="1083826"/>
          </a:xfrm>
          <a:prstGeom prst="roundRect">
            <a:avLst>
              <a:gd name="adj" fmla="val 31628"/>
            </a:avLst>
          </a:prstGeom>
          <a:solidFill>
            <a:srgbClr val="171717"/>
          </a:solidFill>
          <a:ln/>
        </p:spPr>
      </p:sp>
      <p:sp>
        <p:nvSpPr>
          <p:cNvPr id="15" name="Text 12"/>
          <p:cNvSpPr/>
          <p:nvPr/>
        </p:nvSpPr>
        <p:spPr>
          <a:xfrm>
            <a:off x="7166491" y="3427690"/>
            <a:ext cx="2409944" cy="289084"/>
          </a:xfrm>
          <a:prstGeom prst="rect">
            <a:avLst/>
          </a:prstGeom>
          <a:noFill/>
          <a:ln/>
        </p:spPr>
        <p:txBody>
          <a:bodyPr wrap="none" lIns="0" tIns="0" rIns="0" bIns="0" rtlCol="0" anchor="t"/>
          <a:lstStyle/>
          <a:p>
            <a:pPr marL="0" indent="0" algn="l">
              <a:lnSpc>
                <a:spcPts val="2250"/>
              </a:lnSpc>
              <a:buNone/>
            </a:pPr>
            <a:r>
              <a:rPr lang="en-US" sz="1850" dirty="0">
                <a:solidFill>
                  <a:srgbClr val="2A2A2A"/>
                </a:solidFill>
                <a:latin typeface="Space Grotesk Medium" pitchFamily="34" charset="0"/>
                <a:ea typeface="Space Grotesk Medium" pitchFamily="34" charset="-122"/>
                <a:cs typeface="Space Grotesk Medium" pitchFamily="34" charset="-120"/>
              </a:rPr>
              <a:t>Vrais Positifs (VP)</a:t>
            </a:r>
            <a:endParaRPr lang="en-US" sz="1850" dirty="0"/>
          </a:p>
        </p:txBody>
      </p:sp>
      <p:sp>
        <p:nvSpPr>
          <p:cNvPr id="16" name="Text 13"/>
          <p:cNvSpPr/>
          <p:nvPr/>
        </p:nvSpPr>
        <p:spPr>
          <a:xfrm>
            <a:off x="7166491" y="3880604"/>
            <a:ext cx="6461998" cy="199668"/>
          </a:xfrm>
          <a:prstGeom prst="rect">
            <a:avLst/>
          </a:prstGeom>
          <a:noFill/>
          <a:ln/>
        </p:spPr>
        <p:txBody>
          <a:bodyPr wrap="non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Clients à risque correctement identifiés comme risqués — à maximiser.</a:t>
            </a:r>
            <a:endParaRPr lang="en-US" sz="1200" dirty="0"/>
          </a:p>
        </p:txBody>
      </p:sp>
      <p:sp>
        <p:nvSpPr>
          <p:cNvPr id="17" name="Shape 14"/>
          <p:cNvSpPr/>
          <p:nvPr/>
        </p:nvSpPr>
        <p:spPr>
          <a:xfrm>
            <a:off x="6882289" y="4459724"/>
            <a:ext cx="6961823" cy="1083826"/>
          </a:xfrm>
          <a:prstGeom prst="roundRect">
            <a:avLst>
              <a:gd name="adj" fmla="val 10124"/>
            </a:avLst>
          </a:prstGeom>
          <a:solidFill>
            <a:srgbClr val="FFFFFF"/>
          </a:solidFill>
          <a:ln w="22860">
            <a:solidFill>
              <a:srgbClr val="4A5F73"/>
            </a:solidFill>
            <a:prstDash val="solid"/>
          </a:ln>
        </p:spPr>
      </p:sp>
      <p:sp>
        <p:nvSpPr>
          <p:cNvPr id="18" name="Shape 15"/>
          <p:cNvSpPr/>
          <p:nvPr/>
        </p:nvSpPr>
        <p:spPr>
          <a:xfrm>
            <a:off x="6859429" y="4459724"/>
            <a:ext cx="91440" cy="1083826"/>
          </a:xfrm>
          <a:prstGeom prst="roundRect">
            <a:avLst>
              <a:gd name="adj" fmla="val 31628"/>
            </a:avLst>
          </a:prstGeom>
          <a:solidFill>
            <a:srgbClr val="4A5F73"/>
          </a:solidFill>
          <a:ln/>
        </p:spPr>
      </p:sp>
      <p:sp>
        <p:nvSpPr>
          <p:cNvPr id="19" name="Text 16"/>
          <p:cNvSpPr/>
          <p:nvPr/>
        </p:nvSpPr>
        <p:spPr>
          <a:xfrm>
            <a:off x="7166491" y="4675346"/>
            <a:ext cx="2409944" cy="289084"/>
          </a:xfrm>
          <a:prstGeom prst="rect">
            <a:avLst/>
          </a:prstGeom>
          <a:noFill/>
          <a:ln/>
        </p:spPr>
        <p:txBody>
          <a:bodyPr wrap="none" lIns="0" tIns="0" rIns="0" bIns="0" rtlCol="0" anchor="t"/>
          <a:lstStyle/>
          <a:p>
            <a:pPr marL="0" indent="0" algn="l">
              <a:lnSpc>
                <a:spcPts val="2250"/>
              </a:lnSpc>
              <a:buNone/>
            </a:pPr>
            <a:r>
              <a:rPr lang="en-US" sz="1850" dirty="0">
                <a:solidFill>
                  <a:srgbClr val="2A2A2A"/>
                </a:solidFill>
                <a:latin typeface="Space Grotesk Medium" pitchFamily="34" charset="0"/>
                <a:ea typeface="Space Grotesk Medium" pitchFamily="34" charset="-122"/>
                <a:cs typeface="Space Grotesk Medium" pitchFamily="34" charset="-120"/>
              </a:rPr>
              <a:t>Faux Négatifs (FN)</a:t>
            </a:r>
            <a:endParaRPr lang="en-US" sz="1850" dirty="0"/>
          </a:p>
        </p:txBody>
      </p:sp>
      <p:sp>
        <p:nvSpPr>
          <p:cNvPr id="20" name="Text 17"/>
          <p:cNvSpPr/>
          <p:nvPr/>
        </p:nvSpPr>
        <p:spPr>
          <a:xfrm>
            <a:off x="7166491" y="5128260"/>
            <a:ext cx="6461998" cy="199668"/>
          </a:xfrm>
          <a:prstGeom prst="rect">
            <a:avLst/>
          </a:prstGeom>
          <a:noFill/>
          <a:ln/>
        </p:spPr>
        <p:txBody>
          <a:bodyPr wrap="non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Clients à risque classés à tort comme solvables — </a:t>
            </a:r>
            <a:r>
              <a:rPr lang="en-US" sz="1200" b="1" dirty="0">
                <a:solidFill>
                  <a:srgbClr val="2A2A2A"/>
                </a:solidFill>
                <a:latin typeface="DM Sans" pitchFamily="34" charset="0"/>
                <a:ea typeface="DM Sans" pitchFamily="34" charset="-122"/>
                <a:cs typeface="DM Sans" pitchFamily="34" charset="-120"/>
              </a:rPr>
              <a:t>erreur coûteuse</a:t>
            </a:r>
            <a:r>
              <a:rPr lang="en-US" sz="1200" dirty="0">
                <a:solidFill>
                  <a:srgbClr val="2A2A2A"/>
                </a:solidFill>
                <a:latin typeface="DM Sans" pitchFamily="34" charset="0"/>
                <a:ea typeface="DM Sans" pitchFamily="34" charset="-122"/>
                <a:cs typeface="DM Sans" pitchFamily="34" charset="-120"/>
              </a:rPr>
              <a:t> pour la banque.</a:t>
            </a:r>
            <a:endParaRPr lang="en-US" sz="1200" dirty="0"/>
          </a:p>
        </p:txBody>
      </p:sp>
      <p:sp>
        <p:nvSpPr>
          <p:cNvPr id="21" name="Shape 18"/>
          <p:cNvSpPr/>
          <p:nvPr/>
        </p:nvSpPr>
        <p:spPr>
          <a:xfrm>
            <a:off x="6882289" y="5707380"/>
            <a:ext cx="6961823" cy="1083826"/>
          </a:xfrm>
          <a:prstGeom prst="roundRect">
            <a:avLst>
              <a:gd name="adj" fmla="val 10124"/>
            </a:avLst>
          </a:prstGeom>
          <a:solidFill>
            <a:srgbClr val="FFFFFF"/>
          </a:solidFill>
          <a:ln w="22860">
            <a:solidFill>
              <a:srgbClr val="2A2A2A"/>
            </a:solidFill>
            <a:prstDash val="solid"/>
          </a:ln>
        </p:spPr>
      </p:sp>
      <p:sp>
        <p:nvSpPr>
          <p:cNvPr id="22" name="Shape 19"/>
          <p:cNvSpPr/>
          <p:nvPr/>
        </p:nvSpPr>
        <p:spPr>
          <a:xfrm>
            <a:off x="6859429" y="5707380"/>
            <a:ext cx="91440" cy="1083826"/>
          </a:xfrm>
          <a:prstGeom prst="roundRect">
            <a:avLst>
              <a:gd name="adj" fmla="val 31628"/>
            </a:avLst>
          </a:prstGeom>
          <a:solidFill>
            <a:srgbClr val="2A2A2A"/>
          </a:solidFill>
          <a:ln/>
        </p:spPr>
      </p:sp>
      <p:sp>
        <p:nvSpPr>
          <p:cNvPr id="23" name="Text 20"/>
          <p:cNvSpPr/>
          <p:nvPr/>
        </p:nvSpPr>
        <p:spPr>
          <a:xfrm>
            <a:off x="7166491" y="5923002"/>
            <a:ext cx="2409944" cy="289084"/>
          </a:xfrm>
          <a:prstGeom prst="rect">
            <a:avLst/>
          </a:prstGeom>
          <a:noFill/>
          <a:ln/>
        </p:spPr>
        <p:txBody>
          <a:bodyPr wrap="none" lIns="0" tIns="0" rIns="0" bIns="0" rtlCol="0" anchor="t"/>
          <a:lstStyle/>
          <a:p>
            <a:pPr marL="0" indent="0" algn="l">
              <a:lnSpc>
                <a:spcPts val="2250"/>
              </a:lnSpc>
              <a:buNone/>
            </a:pPr>
            <a:r>
              <a:rPr lang="en-US" sz="1850" dirty="0">
                <a:solidFill>
                  <a:srgbClr val="2A2A2A"/>
                </a:solidFill>
                <a:latin typeface="Space Grotesk Medium" pitchFamily="34" charset="0"/>
                <a:ea typeface="Space Grotesk Medium" pitchFamily="34" charset="-122"/>
                <a:cs typeface="Space Grotesk Medium" pitchFamily="34" charset="-120"/>
              </a:rPr>
              <a:t>Faux Positifs (FP)</a:t>
            </a:r>
            <a:endParaRPr lang="en-US" sz="1850" dirty="0"/>
          </a:p>
        </p:txBody>
      </p:sp>
      <p:sp>
        <p:nvSpPr>
          <p:cNvPr id="24" name="Text 21"/>
          <p:cNvSpPr/>
          <p:nvPr/>
        </p:nvSpPr>
        <p:spPr>
          <a:xfrm>
            <a:off x="7166491" y="6375916"/>
            <a:ext cx="6461998" cy="199668"/>
          </a:xfrm>
          <a:prstGeom prst="rect">
            <a:avLst/>
          </a:prstGeom>
          <a:noFill/>
          <a:ln/>
        </p:spPr>
        <p:txBody>
          <a:bodyPr wrap="non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Clients solvables refusés à tort — perte d'opportunité commerciale.</a:t>
            </a:r>
            <a:endParaRPr lang="en-US" sz="1200" dirty="0"/>
          </a:p>
        </p:txBody>
      </p:sp>
      <p:sp>
        <p:nvSpPr>
          <p:cNvPr id="25" name="Text 22"/>
          <p:cNvSpPr/>
          <p:nvPr/>
        </p:nvSpPr>
        <p:spPr>
          <a:xfrm>
            <a:off x="6882289" y="6975515"/>
            <a:ext cx="6961823" cy="399336"/>
          </a:xfrm>
          <a:prstGeom prst="rect">
            <a:avLst/>
          </a:prstGeom>
          <a:noFill/>
          <a:ln/>
        </p:spPr>
        <p:txBody>
          <a:bodyPr wrap="squar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Le seuil 0.5 optimise l'accuracy globale mais ne tient pas compte de l'asymétrie du coût des erreurs en contexte bancaire.</a:t>
            </a:r>
            <a:endParaRPr lang="en-US" sz="1200" dirty="0"/>
          </a:p>
        </p:txBody>
      </p:sp>
      <p:pic>
        <p:nvPicPr>
          <p:cNvPr id="6146" name="Picture 2" descr="Surface blanche à rayures rondes Couverture souple blanche | Vecteur Premium">
            <a:extLst>
              <a:ext uri="{FF2B5EF4-FFF2-40B4-BE49-F238E27FC236}">
                <a16:creationId xmlns:a16="http://schemas.microsoft.com/office/drawing/2014/main" id="{BBF02C09-A7C3-1EA8-BCDF-EAC022B4B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10490" y="7674807"/>
            <a:ext cx="2528364" cy="473512"/>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a:extLst>
              <a:ext uri="{FF2B5EF4-FFF2-40B4-BE49-F238E27FC236}">
                <a16:creationId xmlns:a16="http://schemas.microsoft.com/office/drawing/2014/main" id="{957806D3-45D1-7574-EE4D-605CBCB0BA5B}"/>
              </a:ext>
            </a:extLst>
          </p:cNvPr>
          <p:cNvPicPr>
            <a:picLocks noChangeAspect="1"/>
          </p:cNvPicPr>
          <p:nvPr/>
        </p:nvPicPr>
        <p:blipFill>
          <a:blip r:embed="rId4"/>
          <a:stretch>
            <a:fillRect/>
          </a:stretch>
        </p:blipFill>
        <p:spPr>
          <a:xfrm>
            <a:off x="315873" y="2188396"/>
            <a:ext cx="6034564" cy="470556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65453" y="848558"/>
            <a:ext cx="2041803" cy="371832"/>
          </a:xfrm>
          <a:prstGeom prst="roundRect">
            <a:avLst>
              <a:gd name="adj" fmla="val 7059"/>
            </a:avLst>
          </a:prstGeom>
          <a:solidFill>
            <a:srgbClr val="E6E6E6"/>
          </a:solidFill>
          <a:ln/>
        </p:spPr>
      </p:sp>
      <p:sp>
        <p:nvSpPr>
          <p:cNvPr id="3" name="Text 1"/>
          <p:cNvSpPr/>
          <p:nvPr/>
        </p:nvSpPr>
        <p:spPr>
          <a:xfrm>
            <a:off x="896660" y="914162"/>
            <a:ext cx="1779389" cy="240625"/>
          </a:xfrm>
          <a:prstGeom prst="rect">
            <a:avLst/>
          </a:prstGeom>
          <a:noFill/>
          <a:ln/>
        </p:spPr>
        <p:txBody>
          <a:bodyPr wrap="none" lIns="0" tIns="0" rIns="0" bIns="0" rtlCol="0" anchor="t"/>
          <a:lstStyle/>
          <a:p>
            <a:pPr marL="0" indent="0" algn="l">
              <a:lnSpc>
                <a:spcPts val="1850"/>
              </a:lnSpc>
              <a:buNone/>
            </a:pPr>
            <a:r>
              <a:rPr lang="en-US" sz="1350" dirty="0">
                <a:solidFill>
                  <a:srgbClr val="2A2A2A"/>
                </a:solidFill>
                <a:latin typeface="DM Sans" pitchFamily="34" charset="0"/>
                <a:ea typeface="DM Sans" pitchFamily="34" charset="-122"/>
                <a:cs typeface="DM Sans" pitchFamily="34" charset="-120"/>
              </a:rPr>
              <a:t>STRATÉGIE DE RISQUE</a:t>
            </a:r>
            <a:endParaRPr lang="en-US" sz="1350" dirty="0"/>
          </a:p>
        </p:txBody>
      </p:sp>
      <p:sp>
        <p:nvSpPr>
          <p:cNvPr id="4" name="Text 2"/>
          <p:cNvSpPr/>
          <p:nvPr/>
        </p:nvSpPr>
        <p:spPr>
          <a:xfrm>
            <a:off x="765453" y="1304687"/>
            <a:ext cx="12368213" cy="656153"/>
          </a:xfrm>
          <a:prstGeom prst="rect">
            <a:avLst/>
          </a:prstGeom>
          <a:noFill/>
          <a:ln/>
        </p:spPr>
        <p:txBody>
          <a:bodyPr wrap="none" lIns="0" tIns="0" rIns="0" bIns="0" rtlCol="0" anchor="t"/>
          <a:lstStyle/>
          <a:p>
            <a:pPr marL="0" indent="0" algn="l">
              <a:lnSpc>
                <a:spcPts val="5150"/>
              </a:lnSpc>
              <a:buNone/>
            </a:pPr>
            <a:r>
              <a:rPr lang="en-US" sz="4300" dirty="0">
                <a:solidFill>
                  <a:srgbClr val="171717"/>
                </a:solidFill>
                <a:latin typeface="Space Grotesk Medium" pitchFamily="34" charset="0"/>
                <a:ea typeface="Space Grotesk Medium" pitchFamily="34" charset="-122"/>
                <a:cs typeface="Space Grotesk Medium" pitchFamily="34" charset="-120"/>
              </a:rPr>
              <a:t>Optimisation du Seuil — Comparaison 0.5 vs 0.7</a:t>
            </a:r>
            <a:endParaRPr lang="en-US" sz="4300" dirty="0"/>
          </a:p>
        </p:txBody>
      </p:sp>
      <p:sp>
        <p:nvSpPr>
          <p:cNvPr id="5" name="Text 3"/>
          <p:cNvSpPr/>
          <p:nvPr/>
        </p:nvSpPr>
        <p:spPr>
          <a:xfrm>
            <a:off x="765453" y="2488049"/>
            <a:ext cx="4315658" cy="328017"/>
          </a:xfrm>
          <a:prstGeom prst="rect">
            <a:avLst/>
          </a:prstGeom>
          <a:noFill/>
          <a:ln/>
        </p:spPr>
        <p:txBody>
          <a:bodyPr wrap="none" lIns="0" tIns="0" rIns="0" bIns="0" rtlCol="0" anchor="t"/>
          <a:lstStyle/>
          <a:p>
            <a:pPr marL="0" indent="0" algn="l">
              <a:lnSpc>
                <a:spcPts val="2550"/>
              </a:lnSpc>
              <a:buNone/>
            </a:pPr>
            <a:r>
              <a:rPr lang="en-US" sz="2150" dirty="0">
                <a:solidFill>
                  <a:srgbClr val="171717"/>
                </a:solidFill>
                <a:latin typeface="Space Grotesk Medium" pitchFamily="34" charset="0"/>
                <a:ea typeface="Space Grotesk Medium" pitchFamily="34" charset="-122"/>
                <a:cs typeface="Space Grotesk Medium" pitchFamily="34" charset="-120"/>
              </a:rPr>
              <a:t>Matrice de Confusion — Seuil 0.5</a:t>
            </a:r>
            <a:endParaRPr lang="en-US" sz="2150" dirty="0"/>
          </a:p>
        </p:txBody>
      </p:sp>
      <p:sp>
        <p:nvSpPr>
          <p:cNvPr id="6" name="Text 4"/>
          <p:cNvSpPr/>
          <p:nvPr/>
        </p:nvSpPr>
        <p:spPr>
          <a:xfrm>
            <a:off x="765453" y="3026926"/>
            <a:ext cx="6282928" cy="481251"/>
          </a:xfrm>
          <a:prstGeom prst="rect">
            <a:avLst/>
          </a:prstGeom>
          <a:noFill/>
          <a:ln/>
        </p:spPr>
        <p:txBody>
          <a:bodyPr wrap="square" lIns="0" tIns="0" rIns="0" bIns="0" rtlCol="0" anchor="t"/>
          <a:lstStyle/>
          <a:p>
            <a:pPr marL="0" indent="0" algn="l">
              <a:lnSpc>
                <a:spcPts val="1850"/>
              </a:lnSpc>
              <a:buNone/>
            </a:pPr>
            <a:r>
              <a:rPr lang="en-US" sz="1350" dirty="0">
                <a:solidFill>
                  <a:srgbClr val="2A2A2A"/>
                </a:solidFill>
                <a:latin typeface="DM Sans" pitchFamily="34" charset="0"/>
                <a:ea typeface="DM Sans" pitchFamily="34" charset="-122"/>
                <a:cs typeface="DM Sans" pitchFamily="34" charset="-120"/>
              </a:rPr>
              <a:t>Espace réservé — Insérer ici votre matrice de confusion au seuil 0.5 (version résumée pour comparaison).</a:t>
            </a:r>
            <a:endParaRPr lang="en-US" sz="1350" dirty="0"/>
          </a:p>
        </p:txBody>
      </p:sp>
      <p:sp>
        <p:nvSpPr>
          <p:cNvPr id="7" name="Shape 5"/>
          <p:cNvSpPr/>
          <p:nvPr/>
        </p:nvSpPr>
        <p:spPr>
          <a:xfrm>
            <a:off x="765453" y="3745349"/>
            <a:ext cx="6282928" cy="865227"/>
          </a:xfrm>
          <a:prstGeom prst="roundRect">
            <a:avLst>
              <a:gd name="adj" fmla="val 3792"/>
            </a:avLst>
          </a:prstGeom>
          <a:solidFill>
            <a:srgbClr val="D9D9D9"/>
          </a:solidFill>
          <a:ln/>
        </p:spPr>
      </p:sp>
      <p:pic>
        <p:nvPicPr>
          <p:cNvPr id="8" name="Image 0" descr="preencoded.png"/>
          <p:cNvPicPr>
            <a:picLocks noChangeAspect="1"/>
          </p:cNvPicPr>
          <p:nvPr/>
        </p:nvPicPr>
        <p:blipFill>
          <a:blip r:embed="rId3"/>
          <a:stretch>
            <a:fillRect/>
          </a:stretch>
        </p:blipFill>
        <p:spPr>
          <a:xfrm>
            <a:off x="984171" y="4048244"/>
            <a:ext cx="273368" cy="218718"/>
          </a:xfrm>
          <a:prstGeom prst="rect">
            <a:avLst/>
          </a:prstGeom>
        </p:spPr>
      </p:pic>
      <p:sp>
        <p:nvSpPr>
          <p:cNvPr id="9" name="Text 6"/>
          <p:cNvSpPr/>
          <p:nvPr/>
        </p:nvSpPr>
        <p:spPr>
          <a:xfrm>
            <a:off x="1476256" y="4010858"/>
            <a:ext cx="5353407" cy="300633"/>
          </a:xfrm>
          <a:prstGeom prst="rect">
            <a:avLst/>
          </a:prstGeom>
          <a:noFill/>
          <a:ln/>
        </p:spPr>
        <p:txBody>
          <a:bodyPr wrap="none" lIns="0" tIns="0" rIns="0" bIns="0" rtlCol="0" anchor="t"/>
          <a:lstStyle/>
          <a:p>
            <a:pPr marL="0" indent="0" algn="l">
              <a:lnSpc>
                <a:spcPts val="2350"/>
              </a:lnSpc>
              <a:buNone/>
            </a:pPr>
            <a:r>
              <a:rPr lang="en-US" sz="1700" dirty="0">
                <a:solidFill>
                  <a:srgbClr val="000000"/>
                </a:solidFill>
                <a:latin typeface="DM Sans" pitchFamily="34" charset="0"/>
                <a:ea typeface="DM Sans" pitchFamily="34" charset="-122"/>
                <a:cs typeface="DM Sans" pitchFamily="34" charset="-120"/>
              </a:rPr>
              <a:t>📸 </a:t>
            </a:r>
            <a:r>
              <a:rPr lang="en-US" sz="1700" b="1" dirty="0">
                <a:solidFill>
                  <a:srgbClr val="000000"/>
                </a:solidFill>
                <a:latin typeface="DM Sans" pitchFamily="34" charset="0"/>
                <a:ea typeface="DM Sans" pitchFamily="34" charset="-122"/>
                <a:cs typeface="DM Sans" pitchFamily="34" charset="-120"/>
              </a:rPr>
              <a:t>Placeholder :</a:t>
            </a:r>
            <a:r>
              <a:rPr lang="en-US" sz="1700" dirty="0">
                <a:solidFill>
                  <a:srgbClr val="000000"/>
                </a:solidFill>
                <a:latin typeface="DM Sans" pitchFamily="34" charset="0"/>
                <a:ea typeface="DM Sans" pitchFamily="34" charset="-122"/>
                <a:cs typeface="DM Sans" pitchFamily="34" charset="-120"/>
              </a:rPr>
              <a:t> Matrice de confusion — Seuil 0.5</a:t>
            </a:r>
            <a:endParaRPr lang="en-US" sz="1700" dirty="0"/>
          </a:p>
        </p:txBody>
      </p:sp>
      <p:sp>
        <p:nvSpPr>
          <p:cNvPr id="10" name="Shape 7"/>
          <p:cNvSpPr/>
          <p:nvPr/>
        </p:nvSpPr>
        <p:spPr>
          <a:xfrm>
            <a:off x="765453" y="4847749"/>
            <a:ext cx="3035975" cy="1457563"/>
          </a:xfrm>
          <a:prstGeom prst="roundRect">
            <a:avLst>
              <a:gd name="adj" fmla="val 2251"/>
            </a:avLst>
          </a:prstGeom>
          <a:solidFill>
            <a:srgbClr val="171717"/>
          </a:solidFill>
          <a:ln/>
        </p:spPr>
      </p:sp>
      <p:sp>
        <p:nvSpPr>
          <p:cNvPr id="11" name="Text 8"/>
          <p:cNvSpPr/>
          <p:nvPr/>
        </p:nvSpPr>
        <p:spPr>
          <a:xfrm>
            <a:off x="984171" y="5066467"/>
            <a:ext cx="2598539" cy="328017"/>
          </a:xfrm>
          <a:prstGeom prst="rect">
            <a:avLst/>
          </a:prstGeom>
          <a:noFill/>
          <a:ln/>
        </p:spPr>
        <p:txBody>
          <a:bodyPr wrap="none" lIns="0" tIns="0" rIns="0" bIns="0" rtlCol="0" anchor="t"/>
          <a:lstStyle/>
          <a:p>
            <a:pPr marL="0" indent="0" algn="l">
              <a:lnSpc>
                <a:spcPts val="2550"/>
              </a:lnSpc>
              <a:buNone/>
            </a:pPr>
            <a:r>
              <a:rPr lang="en-US" sz="2150" dirty="0">
                <a:solidFill>
                  <a:srgbClr val="FFFFFF"/>
                </a:solidFill>
                <a:latin typeface="Space Grotesk Medium" pitchFamily="34" charset="0"/>
                <a:ea typeface="Space Grotesk Medium" pitchFamily="34" charset="-122"/>
                <a:cs typeface="Space Grotesk Medium" pitchFamily="34" charset="-120"/>
              </a:rPr>
              <a:t>Posture</a:t>
            </a:r>
            <a:endParaRPr lang="en-US" sz="2150" dirty="0"/>
          </a:p>
        </p:txBody>
      </p:sp>
      <p:sp>
        <p:nvSpPr>
          <p:cNvPr id="12" name="Text 9"/>
          <p:cNvSpPr/>
          <p:nvPr/>
        </p:nvSpPr>
        <p:spPr>
          <a:xfrm>
            <a:off x="984171" y="5605343"/>
            <a:ext cx="2598539" cy="481251"/>
          </a:xfrm>
          <a:prstGeom prst="rect">
            <a:avLst/>
          </a:prstGeom>
          <a:noFill/>
          <a:ln/>
        </p:spPr>
        <p:txBody>
          <a:bodyPr wrap="square" lIns="0" tIns="0" rIns="0" bIns="0" rtlCol="0" anchor="t"/>
          <a:lstStyle/>
          <a:p>
            <a:pPr marL="0" indent="0" algn="l">
              <a:lnSpc>
                <a:spcPts val="1850"/>
              </a:lnSpc>
              <a:buNone/>
            </a:pPr>
            <a:r>
              <a:rPr lang="en-US" sz="1350" dirty="0">
                <a:solidFill>
                  <a:srgbClr val="FFFFFF"/>
                </a:solidFill>
                <a:latin typeface="DM Sans" pitchFamily="34" charset="0"/>
                <a:ea typeface="DM Sans" pitchFamily="34" charset="-122"/>
                <a:cs typeface="DM Sans" pitchFamily="34" charset="-120"/>
              </a:rPr>
              <a:t>Équilibrée — maximise l'accuracy globale</a:t>
            </a:r>
            <a:endParaRPr lang="en-US" sz="1350" dirty="0"/>
          </a:p>
        </p:txBody>
      </p:sp>
      <p:sp>
        <p:nvSpPr>
          <p:cNvPr id="13" name="Shape 10"/>
          <p:cNvSpPr/>
          <p:nvPr/>
        </p:nvSpPr>
        <p:spPr>
          <a:xfrm>
            <a:off x="4012287" y="4847749"/>
            <a:ext cx="3036094" cy="1457563"/>
          </a:xfrm>
          <a:prstGeom prst="roundRect">
            <a:avLst>
              <a:gd name="adj" fmla="val 2251"/>
            </a:avLst>
          </a:prstGeom>
          <a:solidFill>
            <a:srgbClr val="4A5F73"/>
          </a:solidFill>
          <a:ln/>
        </p:spPr>
      </p:sp>
      <p:sp>
        <p:nvSpPr>
          <p:cNvPr id="14" name="Text 11"/>
          <p:cNvSpPr/>
          <p:nvPr/>
        </p:nvSpPr>
        <p:spPr>
          <a:xfrm>
            <a:off x="4231005" y="5066467"/>
            <a:ext cx="2598658" cy="328017"/>
          </a:xfrm>
          <a:prstGeom prst="rect">
            <a:avLst/>
          </a:prstGeom>
          <a:noFill/>
          <a:ln/>
        </p:spPr>
        <p:txBody>
          <a:bodyPr wrap="none" lIns="0" tIns="0" rIns="0" bIns="0" rtlCol="0" anchor="t"/>
          <a:lstStyle/>
          <a:p>
            <a:pPr marL="0" indent="0" algn="l">
              <a:lnSpc>
                <a:spcPts val="2550"/>
              </a:lnSpc>
              <a:buNone/>
            </a:pPr>
            <a:r>
              <a:rPr lang="en-US" sz="2150" dirty="0">
                <a:solidFill>
                  <a:srgbClr val="FFFFFF"/>
                </a:solidFill>
                <a:latin typeface="Space Grotesk Medium" pitchFamily="34" charset="0"/>
                <a:ea typeface="Space Grotesk Medium" pitchFamily="34" charset="-122"/>
                <a:cs typeface="Space Grotesk Medium" pitchFamily="34" charset="-120"/>
              </a:rPr>
              <a:t>Risque</a:t>
            </a:r>
            <a:endParaRPr lang="en-US" sz="2150" dirty="0"/>
          </a:p>
        </p:txBody>
      </p:sp>
      <p:sp>
        <p:nvSpPr>
          <p:cNvPr id="15" name="Text 12"/>
          <p:cNvSpPr/>
          <p:nvPr/>
        </p:nvSpPr>
        <p:spPr>
          <a:xfrm>
            <a:off x="4231005" y="5605343"/>
            <a:ext cx="2598658" cy="481251"/>
          </a:xfrm>
          <a:prstGeom prst="rect">
            <a:avLst/>
          </a:prstGeom>
          <a:noFill/>
          <a:ln/>
        </p:spPr>
        <p:txBody>
          <a:bodyPr wrap="square" lIns="0" tIns="0" rIns="0" bIns="0" rtlCol="0" anchor="t"/>
          <a:lstStyle/>
          <a:p>
            <a:pPr marL="0" indent="0" algn="l">
              <a:lnSpc>
                <a:spcPts val="1850"/>
              </a:lnSpc>
              <a:buNone/>
            </a:pPr>
            <a:r>
              <a:rPr lang="en-US" sz="1350" dirty="0">
                <a:solidFill>
                  <a:srgbClr val="FFFFFF"/>
                </a:solidFill>
                <a:latin typeface="DM Sans" pitchFamily="34" charset="0"/>
                <a:ea typeface="DM Sans" pitchFamily="34" charset="-122"/>
                <a:cs typeface="DM Sans" pitchFamily="34" charset="-120"/>
              </a:rPr>
              <a:t>Plus de faux négatifs (défauts non détectés)</a:t>
            </a:r>
            <a:endParaRPr lang="en-US" sz="1350" dirty="0"/>
          </a:p>
        </p:txBody>
      </p:sp>
      <p:sp>
        <p:nvSpPr>
          <p:cNvPr id="17" name="Text 14"/>
          <p:cNvSpPr/>
          <p:nvPr/>
        </p:nvSpPr>
        <p:spPr>
          <a:xfrm>
            <a:off x="7650837" y="2488049"/>
            <a:ext cx="4295180" cy="328017"/>
          </a:xfrm>
          <a:prstGeom prst="rect">
            <a:avLst/>
          </a:prstGeom>
          <a:noFill/>
          <a:ln/>
        </p:spPr>
        <p:txBody>
          <a:bodyPr wrap="none" lIns="0" tIns="0" rIns="0" bIns="0" rtlCol="0" anchor="t"/>
          <a:lstStyle/>
          <a:p>
            <a:pPr marL="0" indent="0" algn="l">
              <a:lnSpc>
                <a:spcPts val="2550"/>
              </a:lnSpc>
              <a:buNone/>
            </a:pPr>
            <a:r>
              <a:rPr lang="en-US" sz="2150" dirty="0">
                <a:solidFill>
                  <a:srgbClr val="FFFFFF"/>
                </a:solidFill>
                <a:latin typeface="Space Grotesk Medium" pitchFamily="34" charset="0"/>
                <a:ea typeface="Space Grotesk Medium" pitchFamily="34" charset="-122"/>
                <a:cs typeface="Space Grotesk Medium" pitchFamily="34" charset="-120"/>
              </a:rPr>
              <a:t> </a:t>
            </a:r>
            <a:endParaRPr lang="en-US" sz="2150" dirty="0"/>
          </a:p>
        </p:txBody>
      </p:sp>
      <p:sp>
        <p:nvSpPr>
          <p:cNvPr id="18" name="Text 15"/>
          <p:cNvSpPr/>
          <p:nvPr/>
        </p:nvSpPr>
        <p:spPr>
          <a:xfrm>
            <a:off x="7650837" y="3026926"/>
            <a:ext cx="6160532" cy="240625"/>
          </a:xfrm>
          <a:prstGeom prst="rect">
            <a:avLst/>
          </a:prstGeom>
          <a:noFill/>
          <a:ln/>
        </p:spPr>
        <p:txBody>
          <a:bodyPr wrap="none" lIns="0" tIns="0" rIns="0" bIns="0" rtlCol="0" anchor="t"/>
          <a:lstStyle/>
          <a:p>
            <a:pPr marL="0" indent="0" algn="l">
              <a:lnSpc>
                <a:spcPts val="1850"/>
              </a:lnSpc>
              <a:buNone/>
            </a:pPr>
            <a:r>
              <a:rPr lang="en-US" sz="1350" dirty="0">
                <a:solidFill>
                  <a:srgbClr val="FFFFFF"/>
                </a:solidFill>
                <a:latin typeface="DM Sans" pitchFamily="34" charset="0"/>
                <a:ea typeface="DM Sans" pitchFamily="34" charset="-122"/>
                <a:cs typeface="DM Sans" pitchFamily="34" charset="-120"/>
              </a:rPr>
              <a:t> </a:t>
            </a:r>
            <a:endParaRPr lang="en-US" sz="1350" dirty="0"/>
          </a:p>
        </p:txBody>
      </p:sp>
      <p:sp>
        <p:nvSpPr>
          <p:cNvPr id="21" name="Text 17"/>
          <p:cNvSpPr/>
          <p:nvPr/>
        </p:nvSpPr>
        <p:spPr>
          <a:xfrm>
            <a:off x="8361640" y="3770233"/>
            <a:ext cx="5231011" cy="300633"/>
          </a:xfrm>
          <a:prstGeom prst="rect">
            <a:avLst/>
          </a:prstGeom>
          <a:noFill/>
          <a:ln/>
        </p:spPr>
        <p:txBody>
          <a:bodyPr wrap="none" lIns="0" tIns="0" rIns="0" bIns="0" rtlCol="0" anchor="t"/>
          <a:lstStyle/>
          <a:p>
            <a:pPr marL="0" indent="0" algn="l">
              <a:lnSpc>
                <a:spcPts val="2350"/>
              </a:lnSpc>
              <a:buNone/>
            </a:pPr>
            <a:r>
              <a:rPr lang="en-US" sz="1700" dirty="0">
                <a:solidFill>
                  <a:srgbClr val="000000"/>
                </a:solidFill>
                <a:latin typeface="DM Sans" pitchFamily="34" charset="0"/>
                <a:ea typeface="DM Sans" pitchFamily="34" charset="-122"/>
                <a:cs typeface="DM Sans" pitchFamily="34" charset="-120"/>
              </a:rPr>
              <a:t> </a:t>
            </a:r>
            <a:endParaRPr lang="en-US" sz="1700" dirty="0"/>
          </a:p>
        </p:txBody>
      </p:sp>
      <p:sp>
        <p:nvSpPr>
          <p:cNvPr id="23" name="Text 19"/>
          <p:cNvSpPr/>
          <p:nvPr/>
        </p:nvSpPr>
        <p:spPr>
          <a:xfrm>
            <a:off x="7869555" y="4825841"/>
            <a:ext cx="2537341" cy="328017"/>
          </a:xfrm>
          <a:prstGeom prst="rect">
            <a:avLst/>
          </a:prstGeom>
          <a:noFill/>
          <a:ln/>
        </p:spPr>
        <p:txBody>
          <a:bodyPr wrap="none" lIns="0" tIns="0" rIns="0" bIns="0" rtlCol="0" anchor="t"/>
          <a:lstStyle/>
          <a:p>
            <a:pPr marL="0" indent="0" algn="l">
              <a:lnSpc>
                <a:spcPts val="2550"/>
              </a:lnSpc>
              <a:buNone/>
            </a:pPr>
            <a:r>
              <a:rPr lang="en-US" sz="2150" dirty="0">
                <a:solidFill>
                  <a:srgbClr val="FFFFFF"/>
                </a:solidFill>
                <a:latin typeface="Space Grotesk Medium" pitchFamily="34" charset="0"/>
                <a:ea typeface="Space Grotesk Medium" pitchFamily="34" charset="-122"/>
                <a:cs typeface="Space Grotesk Medium" pitchFamily="34" charset="-120"/>
              </a:rPr>
              <a:t> </a:t>
            </a:r>
            <a:endParaRPr lang="en-US" sz="2150" dirty="0"/>
          </a:p>
        </p:txBody>
      </p:sp>
      <p:sp>
        <p:nvSpPr>
          <p:cNvPr id="24" name="Text 20"/>
          <p:cNvSpPr/>
          <p:nvPr/>
        </p:nvSpPr>
        <p:spPr>
          <a:xfrm>
            <a:off x="7869555" y="5364718"/>
            <a:ext cx="2537341" cy="481251"/>
          </a:xfrm>
          <a:prstGeom prst="rect">
            <a:avLst/>
          </a:prstGeom>
          <a:noFill/>
          <a:ln/>
        </p:spPr>
        <p:txBody>
          <a:bodyPr wrap="square" lIns="0" tIns="0" rIns="0" bIns="0" rtlCol="0" anchor="t"/>
          <a:lstStyle/>
          <a:p>
            <a:pPr marL="0" indent="0" algn="l">
              <a:lnSpc>
                <a:spcPts val="1850"/>
              </a:lnSpc>
              <a:buNone/>
            </a:pPr>
            <a:r>
              <a:rPr lang="en-US" sz="1350" dirty="0">
                <a:solidFill>
                  <a:srgbClr val="FFFFFF"/>
                </a:solidFill>
                <a:latin typeface="DM Sans" pitchFamily="34" charset="0"/>
                <a:ea typeface="DM Sans" pitchFamily="34" charset="-122"/>
                <a:cs typeface="DM Sans" pitchFamily="34" charset="-120"/>
              </a:rPr>
              <a:t> </a:t>
            </a:r>
            <a:endParaRPr lang="en-US" sz="1350" dirty="0"/>
          </a:p>
        </p:txBody>
      </p:sp>
      <p:sp>
        <p:nvSpPr>
          <p:cNvPr id="26" name="Text 22"/>
          <p:cNvSpPr/>
          <p:nvPr/>
        </p:nvSpPr>
        <p:spPr>
          <a:xfrm>
            <a:off x="11055191" y="4825841"/>
            <a:ext cx="2537460" cy="328017"/>
          </a:xfrm>
          <a:prstGeom prst="rect">
            <a:avLst/>
          </a:prstGeom>
          <a:noFill/>
          <a:ln/>
        </p:spPr>
        <p:txBody>
          <a:bodyPr wrap="none" lIns="0" tIns="0" rIns="0" bIns="0" rtlCol="0" anchor="t"/>
          <a:lstStyle/>
          <a:p>
            <a:pPr marL="0" indent="0" algn="l">
              <a:lnSpc>
                <a:spcPts val="2550"/>
              </a:lnSpc>
              <a:buNone/>
            </a:pPr>
            <a:r>
              <a:rPr lang="en-US" sz="2150" dirty="0">
                <a:solidFill>
                  <a:srgbClr val="FFFFFF"/>
                </a:solidFill>
                <a:latin typeface="Space Grotesk Medium" pitchFamily="34" charset="0"/>
                <a:ea typeface="Space Grotesk Medium" pitchFamily="34" charset="-122"/>
                <a:cs typeface="Space Grotesk Medium" pitchFamily="34" charset="-120"/>
              </a:rPr>
              <a:t> </a:t>
            </a:r>
            <a:endParaRPr lang="en-US" sz="2150" dirty="0"/>
          </a:p>
        </p:txBody>
      </p:sp>
      <p:sp>
        <p:nvSpPr>
          <p:cNvPr id="27" name="Text 23"/>
          <p:cNvSpPr/>
          <p:nvPr/>
        </p:nvSpPr>
        <p:spPr>
          <a:xfrm>
            <a:off x="11055191" y="5364718"/>
            <a:ext cx="2537460" cy="481251"/>
          </a:xfrm>
          <a:prstGeom prst="rect">
            <a:avLst/>
          </a:prstGeom>
          <a:noFill/>
          <a:ln/>
        </p:spPr>
        <p:txBody>
          <a:bodyPr wrap="square" lIns="0" tIns="0" rIns="0" bIns="0" rtlCol="0" anchor="t"/>
          <a:lstStyle/>
          <a:p>
            <a:pPr marL="0" indent="0" algn="l">
              <a:lnSpc>
                <a:spcPts val="1850"/>
              </a:lnSpc>
              <a:buNone/>
            </a:pPr>
            <a:r>
              <a:rPr lang="en-US" sz="1350" dirty="0">
                <a:solidFill>
                  <a:srgbClr val="FFFFFF"/>
                </a:solidFill>
                <a:latin typeface="DM Sans" pitchFamily="34" charset="0"/>
                <a:ea typeface="DM Sans" pitchFamily="34" charset="-122"/>
                <a:cs typeface="DM Sans" pitchFamily="34" charset="-120"/>
              </a:rPr>
              <a:t> </a:t>
            </a:r>
            <a:endParaRPr lang="en-US" sz="1350" dirty="0"/>
          </a:p>
        </p:txBody>
      </p:sp>
      <p:sp>
        <p:nvSpPr>
          <p:cNvPr id="28" name="Text 24"/>
          <p:cNvSpPr/>
          <p:nvPr/>
        </p:nvSpPr>
        <p:spPr>
          <a:xfrm>
            <a:off x="765453" y="6779657"/>
            <a:ext cx="13099494" cy="601266"/>
          </a:xfrm>
          <a:prstGeom prst="rect">
            <a:avLst/>
          </a:prstGeom>
          <a:noFill/>
          <a:ln/>
        </p:spPr>
        <p:txBody>
          <a:bodyPr wrap="square" lIns="0" tIns="0" rIns="0" bIns="0" rtlCol="0" anchor="t"/>
          <a:lstStyle/>
          <a:p>
            <a:pPr marL="0" indent="0" algn="l">
              <a:lnSpc>
                <a:spcPts val="2350"/>
              </a:lnSpc>
              <a:buNone/>
            </a:pPr>
            <a:r>
              <a:rPr lang="en-US" sz="1700" dirty="0">
                <a:solidFill>
                  <a:srgbClr val="2A2A2A"/>
                </a:solidFill>
                <a:latin typeface="DM Sans" pitchFamily="34" charset="0"/>
                <a:ea typeface="DM Sans" pitchFamily="34" charset="-122"/>
                <a:cs typeface="DM Sans" pitchFamily="34" charset="-120"/>
              </a:rPr>
              <a:t>En relevant le seuil de </a:t>
            </a:r>
            <a:r>
              <a:rPr lang="en-US" sz="1700" b="1" dirty="0">
                <a:solidFill>
                  <a:srgbClr val="2A2A2A"/>
                </a:solidFill>
                <a:latin typeface="DM Sans" pitchFamily="34" charset="0"/>
                <a:ea typeface="DM Sans" pitchFamily="34" charset="-122"/>
                <a:cs typeface="DM Sans" pitchFamily="34" charset="-120"/>
              </a:rPr>
              <a:t>0.5 à 0.7</a:t>
            </a:r>
            <a:r>
              <a:rPr lang="en-US" sz="1700" dirty="0">
                <a:solidFill>
                  <a:srgbClr val="2A2A2A"/>
                </a:solidFill>
                <a:latin typeface="DM Sans" pitchFamily="34" charset="0"/>
                <a:ea typeface="DM Sans" pitchFamily="34" charset="-122"/>
                <a:cs typeface="DM Sans" pitchFamily="34" charset="-120"/>
              </a:rPr>
              <a:t>, la banque adopte une stratégie plus </a:t>
            </a:r>
            <a:r>
              <a:rPr lang="en-US" sz="1700" b="1" dirty="0">
                <a:solidFill>
                  <a:srgbClr val="2A2A2A"/>
                </a:solidFill>
                <a:latin typeface="DM Sans" pitchFamily="34" charset="0"/>
                <a:ea typeface="DM Sans" pitchFamily="34" charset="-122"/>
                <a:cs typeface="DM Sans" pitchFamily="34" charset="-120"/>
              </a:rPr>
              <a:t>conservatrice</a:t>
            </a:r>
            <a:r>
              <a:rPr lang="en-US" sz="1700" dirty="0">
                <a:solidFill>
                  <a:srgbClr val="2A2A2A"/>
                </a:solidFill>
                <a:latin typeface="DM Sans" pitchFamily="34" charset="0"/>
                <a:ea typeface="DM Sans" pitchFamily="34" charset="-122"/>
                <a:cs typeface="DM Sans" pitchFamily="34" charset="-120"/>
              </a:rPr>
              <a:t> : le modèle n'accorde le crédit que lorsqu'il est très confiant dans la solvabilité du client, réduisant ainsi significativement le risque de pertes liées aux défauts de paiement.</a:t>
            </a:r>
            <a:endParaRPr lang="en-US" sz="1700" dirty="0"/>
          </a:p>
        </p:txBody>
      </p:sp>
      <p:pic>
        <p:nvPicPr>
          <p:cNvPr id="7170" name="Picture 2" descr="Surface blanche à rayures rondes Couverture souple blanche | Vecteur Premium">
            <a:extLst>
              <a:ext uri="{FF2B5EF4-FFF2-40B4-BE49-F238E27FC236}">
                <a16:creationId xmlns:a16="http://schemas.microsoft.com/office/drawing/2014/main" id="{D9EB6B7A-ED44-E83A-EB49-F78D39B748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6280" y="7634883"/>
            <a:ext cx="5962650" cy="481251"/>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E7637A2A-900D-0D53-213B-5357470D20FA}"/>
              </a:ext>
            </a:extLst>
          </p:cNvPr>
          <p:cNvPicPr>
            <a:picLocks noChangeAspect="1"/>
          </p:cNvPicPr>
          <p:nvPr/>
        </p:nvPicPr>
        <p:blipFill>
          <a:blip r:embed="rId5"/>
          <a:stretch>
            <a:fillRect/>
          </a:stretch>
        </p:blipFill>
        <p:spPr>
          <a:xfrm>
            <a:off x="7650837" y="2347136"/>
            <a:ext cx="6160532" cy="417856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93790" y="624245"/>
            <a:ext cx="1570673" cy="339566"/>
          </a:xfrm>
          <a:prstGeom prst="roundRect">
            <a:avLst>
              <a:gd name="adj" fmla="val 7214"/>
            </a:avLst>
          </a:prstGeom>
          <a:solidFill>
            <a:srgbClr val="E6E6E6"/>
          </a:solidFill>
          <a:ln/>
        </p:spPr>
      </p:sp>
      <p:sp>
        <p:nvSpPr>
          <p:cNvPr id="3" name="Text 1"/>
          <p:cNvSpPr/>
          <p:nvPr/>
        </p:nvSpPr>
        <p:spPr>
          <a:xfrm>
            <a:off x="916186" y="685443"/>
            <a:ext cx="1325880" cy="217170"/>
          </a:xfrm>
          <a:prstGeom prst="rect">
            <a:avLst/>
          </a:prstGeom>
          <a:noFill/>
          <a:ln/>
        </p:spPr>
        <p:txBody>
          <a:bodyPr wrap="none" lIns="0" tIns="0" rIns="0" bIns="0" rtlCol="0" anchor="t"/>
          <a:lstStyle/>
          <a:p>
            <a:pPr marL="0" indent="0" algn="l">
              <a:lnSpc>
                <a:spcPts val="1700"/>
              </a:lnSpc>
              <a:buNone/>
            </a:pPr>
            <a:r>
              <a:rPr lang="en-US" sz="1250" dirty="0">
                <a:solidFill>
                  <a:srgbClr val="2A2A2A"/>
                </a:solidFill>
                <a:latin typeface="DM Sans" pitchFamily="34" charset="0"/>
                <a:ea typeface="DM Sans" pitchFamily="34" charset="-122"/>
                <a:cs typeface="DM Sans" pitchFamily="34" charset="-120"/>
              </a:rPr>
              <a:t>DÉMONSTRATION</a:t>
            </a:r>
            <a:endParaRPr lang="en-US" sz="1250" dirty="0"/>
          </a:p>
        </p:txBody>
      </p:sp>
      <p:sp>
        <p:nvSpPr>
          <p:cNvPr id="4" name="Text 2"/>
          <p:cNvSpPr/>
          <p:nvPr/>
        </p:nvSpPr>
        <p:spPr>
          <a:xfrm>
            <a:off x="793790" y="1037273"/>
            <a:ext cx="10926604" cy="612458"/>
          </a:xfrm>
          <a:prstGeom prst="rect">
            <a:avLst/>
          </a:prstGeom>
          <a:noFill/>
          <a:ln/>
        </p:spPr>
        <p:txBody>
          <a:bodyPr wrap="none" lIns="0" tIns="0" rIns="0" bIns="0" rtlCol="0" anchor="t"/>
          <a:lstStyle/>
          <a:p>
            <a:pPr marL="0" indent="0" algn="l">
              <a:lnSpc>
                <a:spcPts val="4800"/>
              </a:lnSpc>
              <a:buNone/>
            </a:pPr>
            <a:r>
              <a:rPr lang="en-US" sz="4000" dirty="0">
                <a:solidFill>
                  <a:srgbClr val="171717"/>
                </a:solidFill>
                <a:latin typeface="Space Grotesk Medium" pitchFamily="34" charset="0"/>
                <a:ea typeface="Space Grotesk Medium" pitchFamily="34" charset="-122"/>
                <a:cs typeface="Space Grotesk Medium" pitchFamily="34" charset="-120"/>
              </a:rPr>
              <a:t>Interface de Scoring — Application Streamlit</a:t>
            </a:r>
            <a:endParaRPr lang="en-US" sz="4000" dirty="0"/>
          </a:p>
        </p:txBody>
      </p:sp>
      <p:sp>
        <p:nvSpPr>
          <p:cNvPr id="5" name="Text 3"/>
          <p:cNvSpPr/>
          <p:nvPr/>
        </p:nvSpPr>
        <p:spPr>
          <a:xfrm>
            <a:off x="793790" y="2108954"/>
            <a:ext cx="3883462" cy="306110"/>
          </a:xfrm>
          <a:prstGeom prst="rect">
            <a:avLst/>
          </a:prstGeom>
          <a:noFill/>
          <a:ln/>
        </p:spPr>
        <p:txBody>
          <a:bodyPr wrap="none" lIns="0" tIns="0" rIns="0" bIns="0" rtlCol="0" anchor="t"/>
          <a:lstStyle/>
          <a:p>
            <a:pPr marL="0" indent="0" algn="l">
              <a:lnSpc>
                <a:spcPts val="2400"/>
              </a:lnSpc>
              <a:buNone/>
            </a:pPr>
            <a:r>
              <a:rPr lang="en-US" sz="2000" dirty="0">
                <a:solidFill>
                  <a:srgbClr val="171717"/>
                </a:solidFill>
                <a:latin typeface="Space Grotesk Medium" pitchFamily="34" charset="0"/>
                <a:ea typeface="Space Grotesk Medium" pitchFamily="34" charset="-122"/>
                <a:cs typeface="Space Grotesk Medium" pitchFamily="34" charset="-120"/>
              </a:rPr>
              <a:t>Fonctionnalités de l'Application</a:t>
            </a:r>
            <a:endParaRPr lang="en-US" sz="2000" dirty="0"/>
          </a:p>
        </p:txBody>
      </p:sp>
      <p:sp>
        <p:nvSpPr>
          <p:cNvPr id="6" name="Text 4"/>
          <p:cNvSpPr/>
          <p:nvPr/>
        </p:nvSpPr>
        <p:spPr>
          <a:xfrm>
            <a:off x="793790" y="2598777"/>
            <a:ext cx="4918353" cy="1085850"/>
          </a:xfrm>
          <a:prstGeom prst="rect">
            <a:avLst/>
          </a:prstGeom>
          <a:noFill/>
          <a:ln/>
        </p:spPr>
        <p:txBody>
          <a:bodyPr wrap="square" lIns="0" tIns="0" rIns="0" bIns="0" rtlCol="0" anchor="t"/>
          <a:lstStyle/>
          <a:p>
            <a:pPr marL="0" indent="0" algn="l">
              <a:lnSpc>
                <a:spcPts val="2100"/>
              </a:lnSpc>
              <a:buNone/>
            </a:pPr>
            <a:r>
              <a:rPr lang="en-US" sz="1600" dirty="0">
                <a:solidFill>
                  <a:srgbClr val="2A2A2A"/>
                </a:solidFill>
                <a:latin typeface="DM Sans" pitchFamily="34" charset="0"/>
                <a:ea typeface="DM Sans" pitchFamily="34" charset="-122"/>
                <a:cs typeface="DM Sans" pitchFamily="34" charset="-120"/>
              </a:rPr>
              <a:t>L'interface Streamlit permet aux conseillers bancaires d'utiliser le modèle de scoring de manière intuitive, sans nécessiter de compétences en programmation.</a:t>
            </a:r>
            <a:endParaRPr lang="en-US" sz="1600" dirty="0"/>
          </a:p>
        </p:txBody>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70347" y="3891141"/>
            <a:ext cx="306110" cy="306110"/>
          </a:xfrm>
          <a:prstGeom prst="rect">
            <a:avLst/>
          </a:prstGeom>
        </p:spPr>
      </p:pic>
      <p:sp>
        <p:nvSpPr>
          <p:cNvPr id="8" name="Text 5"/>
          <p:cNvSpPr/>
          <p:nvPr/>
        </p:nvSpPr>
        <p:spPr>
          <a:xfrm>
            <a:off x="1457087" y="3891320"/>
            <a:ext cx="2577346" cy="306110"/>
          </a:xfrm>
          <a:prstGeom prst="rect">
            <a:avLst/>
          </a:prstGeom>
          <a:noFill/>
          <a:ln/>
        </p:spPr>
        <p:txBody>
          <a:bodyPr wrap="none" lIns="0" tIns="0" rIns="0" bIns="0" rtlCol="0" anchor="t"/>
          <a:lstStyle/>
          <a:p>
            <a:pPr marL="0" indent="0" algn="l">
              <a:lnSpc>
                <a:spcPts val="2400"/>
              </a:lnSpc>
              <a:buNone/>
            </a:pPr>
            <a:r>
              <a:rPr lang="en-US" sz="2000" dirty="0">
                <a:solidFill>
                  <a:srgbClr val="2A2A2A"/>
                </a:solidFill>
                <a:latin typeface="Space Grotesk Medium" pitchFamily="34" charset="0"/>
                <a:ea typeface="Space Grotesk Medium" pitchFamily="34" charset="-122"/>
                <a:cs typeface="Space Grotesk Medium" pitchFamily="34" charset="-120"/>
              </a:rPr>
              <a:t>Saisie du profil client</a:t>
            </a:r>
            <a:endParaRPr lang="en-US" sz="2000" dirty="0"/>
          </a:p>
        </p:txBody>
      </p:sp>
      <p:sp>
        <p:nvSpPr>
          <p:cNvPr id="9" name="Text 6"/>
          <p:cNvSpPr/>
          <p:nvPr/>
        </p:nvSpPr>
        <p:spPr>
          <a:xfrm>
            <a:off x="1457087" y="4381143"/>
            <a:ext cx="4255056" cy="434340"/>
          </a:xfrm>
          <a:prstGeom prst="rect">
            <a:avLst/>
          </a:prstGeom>
          <a:noFill/>
          <a:ln/>
        </p:spPr>
        <p:txBody>
          <a:bodyPr wrap="square" lIns="0" tIns="0" rIns="0" bIns="0" rtlCol="0" anchor="t"/>
          <a:lstStyle/>
          <a:p>
            <a:pPr marL="0" indent="0" algn="l">
              <a:lnSpc>
                <a:spcPts val="1700"/>
              </a:lnSpc>
              <a:buNone/>
            </a:pPr>
            <a:r>
              <a:rPr lang="en-US" sz="1250" dirty="0">
                <a:solidFill>
                  <a:srgbClr val="2A2A2A"/>
                </a:solidFill>
                <a:latin typeface="DM Sans" pitchFamily="34" charset="0"/>
                <a:ea typeface="DM Sans" pitchFamily="34" charset="-122"/>
                <a:cs typeface="DM Sans" pitchFamily="34" charset="-120"/>
              </a:rPr>
              <a:t>Formulaire interactif avec les 20 variables du modèle (âge, montant, durée, etc.).</a:t>
            </a:r>
            <a:endParaRPr lang="en-US" sz="1250" dirty="0"/>
          </a:p>
        </p:txBody>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70347" y="5182731"/>
            <a:ext cx="306110" cy="306110"/>
          </a:xfrm>
          <a:prstGeom prst="rect">
            <a:avLst/>
          </a:prstGeom>
        </p:spPr>
      </p:pic>
      <p:sp>
        <p:nvSpPr>
          <p:cNvPr id="11" name="Text 7"/>
          <p:cNvSpPr/>
          <p:nvPr/>
        </p:nvSpPr>
        <p:spPr>
          <a:xfrm>
            <a:off x="1457087" y="5182910"/>
            <a:ext cx="3619500" cy="306110"/>
          </a:xfrm>
          <a:prstGeom prst="rect">
            <a:avLst/>
          </a:prstGeom>
          <a:noFill/>
          <a:ln/>
        </p:spPr>
        <p:txBody>
          <a:bodyPr wrap="none" lIns="0" tIns="0" rIns="0" bIns="0" rtlCol="0" anchor="t"/>
          <a:lstStyle/>
          <a:p>
            <a:pPr marL="0" indent="0" algn="l">
              <a:lnSpc>
                <a:spcPts val="2400"/>
              </a:lnSpc>
              <a:buNone/>
            </a:pPr>
            <a:r>
              <a:rPr lang="en-US" sz="2000" dirty="0">
                <a:solidFill>
                  <a:srgbClr val="2A2A2A"/>
                </a:solidFill>
                <a:latin typeface="Space Grotesk Medium" pitchFamily="34" charset="0"/>
                <a:ea typeface="Space Grotesk Medium" pitchFamily="34" charset="-122"/>
                <a:cs typeface="Space Grotesk Medium" pitchFamily="34" charset="-120"/>
              </a:rPr>
              <a:t>Calcul du score en temps réel</a:t>
            </a:r>
            <a:endParaRPr lang="en-US" sz="2000" dirty="0"/>
          </a:p>
        </p:txBody>
      </p:sp>
      <p:sp>
        <p:nvSpPr>
          <p:cNvPr id="12" name="Text 8"/>
          <p:cNvSpPr/>
          <p:nvPr/>
        </p:nvSpPr>
        <p:spPr>
          <a:xfrm>
            <a:off x="1457087" y="5672733"/>
            <a:ext cx="4255056" cy="434340"/>
          </a:xfrm>
          <a:prstGeom prst="rect">
            <a:avLst/>
          </a:prstGeom>
          <a:noFill/>
          <a:ln/>
        </p:spPr>
        <p:txBody>
          <a:bodyPr wrap="square" lIns="0" tIns="0" rIns="0" bIns="0" rtlCol="0" anchor="t"/>
          <a:lstStyle/>
          <a:p>
            <a:pPr marL="0" indent="0" algn="l">
              <a:lnSpc>
                <a:spcPts val="1700"/>
              </a:lnSpc>
              <a:buNone/>
            </a:pPr>
            <a:r>
              <a:rPr lang="en-US" sz="1250" dirty="0">
                <a:solidFill>
                  <a:srgbClr val="2A2A2A"/>
                </a:solidFill>
                <a:latin typeface="DM Sans" pitchFamily="34" charset="0"/>
                <a:ea typeface="DM Sans" pitchFamily="34" charset="-122"/>
                <a:cs typeface="DM Sans" pitchFamily="34" charset="-120"/>
              </a:rPr>
              <a:t>Affichage immédiat de la probabilité de défaut et de la décision (Accordé / Refusé).</a:t>
            </a:r>
            <a:endParaRPr lang="en-US" sz="1250" dirty="0"/>
          </a:p>
        </p:txBody>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70347" y="6474321"/>
            <a:ext cx="306110" cy="306110"/>
          </a:xfrm>
          <a:prstGeom prst="rect">
            <a:avLst/>
          </a:prstGeom>
        </p:spPr>
      </p:pic>
      <p:sp>
        <p:nvSpPr>
          <p:cNvPr id="14" name="Text 9"/>
          <p:cNvSpPr/>
          <p:nvPr/>
        </p:nvSpPr>
        <p:spPr>
          <a:xfrm>
            <a:off x="1457087" y="6474500"/>
            <a:ext cx="2591633" cy="306110"/>
          </a:xfrm>
          <a:prstGeom prst="rect">
            <a:avLst/>
          </a:prstGeom>
          <a:noFill/>
          <a:ln/>
        </p:spPr>
        <p:txBody>
          <a:bodyPr wrap="none" lIns="0" tIns="0" rIns="0" bIns="0" rtlCol="0" anchor="t"/>
          <a:lstStyle/>
          <a:p>
            <a:pPr marL="0" indent="0" algn="l">
              <a:lnSpc>
                <a:spcPts val="2400"/>
              </a:lnSpc>
              <a:buNone/>
            </a:pPr>
            <a:r>
              <a:rPr lang="en-US" sz="2000" dirty="0">
                <a:solidFill>
                  <a:srgbClr val="2A2A2A"/>
                </a:solidFill>
                <a:latin typeface="Space Grotesk Medium" pitchFamily="34" charset="0"/>
                <a:ea typeface="Space Grotesk Medium" pitchFamily="34" charset="-122"/>
                <a:cs typeface="Space Grotesk Medium" pitchFamily="34" charset="-120"/>
              </a:rPr>
              <a:t>Paramétrage du seuil</a:t>
            </a:r>
            <a:endParaRPr lang="en-US" sz="2000" dirty="0"/>
          </a:p>
        </p:txBody>
      </p:sp>
      <p:sp>
        <p:nvSpPr>
          <p:cNvPr id="15" name="Text 10"/>
          <p:cNvSpPr/>
          <p:nvPr/>
        </p:nvSpPr>
        <p:spPr>
          <a:xfrm>
            <a:off x="1457087" y="6964323"/>
            <a:ext cx="4255056" cy="434340"/>
          </a:xfrm>
          <a:prstGeom prst="rect">
            <a:avLst/>
          </a:prstGeom>
          <a:noFill/>
          <a:ln/>
        </p:spPr>
        <p:txBody>
          <a:bodyPr wrap="square" lIns="0" tIns="0" rIns="0" bIns="0" rtlCol="0" anchor="t"/>
          <a:lstStyle/>
          <a:p>
            <a:pPr marL="0" indent="0" algn="l">
              <a:lnSpc>
                <a:spcPts val="1700"/>
              </a:lnSpc>
              <a:buNone/>
            </a:pPr>
            <a:r>
              <a:rPr lang="en-US" sz="1250" dirty="0">
                <a:solidFill>
                  <a:srgbClr val="2A2A2A"/>
                </a:solidFill>
                <a:latin typeface="DM Sans" pitchFamily="34" charset="0"/>
                <a:ea typeface="DM Sans" pitchFamily="34" charset="-122"/>
                <a:cs typeface="DM Sans" pitchFamily="34" charset="-120"/>
              </a:rPr>
              <a:t>Slider permettant d'ajuster dynamiquement le seuil de décision selon la stratégie de la banque.</a:t>
            </a:r>
            <a:endParaRPr lang="en-US" sz="1250" dirty="0"/>
          </a:p>
        </p:txBody>
      </p:sp>
      <p:sp>
        <p:nvSpPr>
          <p:cNvPr id="17" name="Text 12"/>
          <p:cNvSpPr/>
          <p:nvPr/>
        </p:nvSpPr>
        <p:spPr>
          <a:xfrm>
            <a:off x="6274832" y="2108954"/>
            <a:ext cx="3938707" cy="306110"/>
          </a:xfrm>
          <a:prstGeom prst="rect">
            <a:avLst/>
          </a:prstGeom>
          <a:noFill/>
          <a:ln/>
        </p:spPr>
        <p:txBody>
          <a:bodyPr wrap="none" lIns="0" tIns="0" rIns="0" bIns="0" rtlCol="0" anchor="t"/>
          <a:lstStyle/>
          <a:p>
            <a:pPr marL="0" indent="0" algn="l">
              <a:lnSpc>
                <a:spcPts val="2400"/>
              </a:lnSpc>
              <a:buNone/>
            </a:pPr>
            <a:r>
              <a:rPr lang="en-US" dirty="0"/>
              <a:t> </a:t>
            </a:r>
          </a:p>
        </p:txBody>
      </p:sp>
      <p:sp>
        <p:nvSpPr>
          <p:cNvPr id="18" name="Text 13"/>
          <p:cNvSpPr/>
          <p:nvPr/>
        </p:nvSpPr>
        <p:spPr>
          <a:xfrm>
            <a:off x="6274832" y="2598777"/>
            <a:ext cx="7512129" cy="434340"/>
          </a:xfrm>
          <a:prstGeom prst="rect">
            <a:avLst/>
          </a:prstGeom>
          <a:noFill/>
          <a:ln/>
        </p:spPr>
        <p:txBody>
          <a:bodyPr wrap="square" lIns="0" tIns="0" rIns="0" bIns="0" rtlCol="0" anchor="t"/>
          <a:lstStyle/>
          <a:p>
            <a:pPr marL="0" indent="0" algn="l">
              <a:lnSpc>
                <a:spcPts val="1700"/>
              </a:lnSpc>
              <a:buNone/>
            </a:pPr>
            <a:r>
              <a:rPr lang="en-US" sz="1250" dirty="0">
                <a:solidFill>
                  <a:srgbClr val="FFFFFF"/>
                </a:solidFill>
                <a:latin typeface="DM Sans" pitchFamily="34" charset="0"/>
                <a:ea typeface="DM Sans" pitchFamily="34" charset="-122"/>
                <a:cs typeface="DM Sans" pitchFamily="34" charset="-120"/>
              </a:rPr>
              <a:t> </a:t>
            </a:r>
            <a:endParaRPr lang="en-US" sz="1250" dirty="0"/>
          </a:p>
        </p:txBody>
      </p:sp>
      <p:sp>
        <p:nvSpPr>
          <p:cNvPr id="21" name="Text 15"/>
          <p:cNvSpPr/>
          <p:nvPr/>
        </p:nvSpPr>
        <p:spPr>
          <a:xfrm>
            <a:off x="6938129" y="3474482"/>
            <a:ext cx="6644759" cy="550545"/>
          </a:xfrm>
          <a:prstGeom prst="rect">
            <a:avLst/>
          </a:prstGeom>
          <a:noFill/>
          <a:ln/>
        </p:spPr>
        <p:txBody>
          <a:bodyPr wrap="square" lIns="0" tIns="0" rIns="0" bIns="0" rtlCol="0" anchor="t"/>
          <a:lstStyle/>
          <a:p>
            <a:pPr marL="0" indent="0" algn="l">
              <a:lnSpc>
                <a:spcPts val="2100"/>
              </a:lnSpc>
              <a:buNone/>
            </a:pPr>
            <a:r>
              <a:rPr lang="en-US" sz="1600" dirty="0">
                <a:solidFill>
                  <a:srgbClr val="000000"/>
                </a:solidFill>
                <a:latin typeface="DM Sans" pitchFamily="34" charset="0"/>
                <a:ea typeface="DM Sans" pitchFamily="34" charset="-122"/>
                <a:cs typeface="DM Sans" pitchFamily="34" charset="-120"/>
              </a:rPr>
              <a:t> </a:t>
            </a:r>
            <a:endParaRPr lang="en-US" sz="1600" dirty="0"/>
          </a:p>
        </p:txBody>
      </p:sp>
      <p:pic>
        <p:nvPicPr>
          <p:cNvPr id="8194" name="Picture 2" descr="Surface blanche à rayures rondes Couverture souple blanche | Vecteur Premium">
            <a:extLst>
              <a:ext uri="{FF2B5EF4-FFF2-40B4-BE49-F238E27FC236}">
                <a16:creationId xmlns:a16="http://schemas.microsoft.com/office/drawing/2014/main" id="{43A7E5F3-A7D6-EED9-D322-B16EF599738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566827" y="7643633"/>
            <a:ext cx="5962650" cy="474466"/>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8941E41C-EF03-5B1F-13FB-7A45ED4575AB}"/>
              </a:ext>
            </a:extLst>
          </p:cNvPr>
          <p:cNvPicPr>
            <a:picLocks noChangeAspect="1"/>
          </p:cNvPicPr>
          <p:nvPr/>
        </p:nvPicPr>
        <p:blipFill>
          <a:blip r:embed="rId10"/>
          <a:stretch>
            <a:fillRect/>
          </a:stretch>
        </p:blipFill>
        <p:spPr>
          <a:xfrm>
            <a:off x="5776265" y="2385893"/>
            <a:ext cx="8590850" cy="501277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2361" y="626269"/>
            <a:ext cx="1204555" cy="314444"/>
          </a:xfrm>
          <a:prstGeom prst="roundRect">
            <a:avLst>
              <a:gd name="adj" fmla="val 7344"/>
            </a:avLst>
          </a:prstGeom>
          <a:solidFill>
            <a:srgbClr val="E6E6E6"/>
          </a:solidFill>
          <a:ln/>
        </p:spPr>
      </p:sp>
      <p:sp>
        <p:nvSpPr>
          <p:cNvPr id="3" name="Text 1"/>
          <p:cNvSpPr/>
          <p:nvPr/>
        </p:nvSpPr>
        <p:spPr>
          <a:xfrm>
            <a:off x="907733" y="683895"/>
            <a:ext cx="973812" cy="199192"/>
          </a:xfrm>
          <a:prstGeom prst="rect">
            <a:avLst/>
          </a:prstGeom>
          <a:noFill/>
          <a:ln/>
        </p:spPr>
        <p:txBody>
          <a:bodyPr wrap="non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CONCLUSION</a:t>
            </a:r>
            <a:endParaRPr lang="en-US" sz="1200" dirty="0"/>
          </a:p>
        </p:txBody>
      </p:sp>
      <p:sp>
        <p:nvSpPr>
          <p:cNvPr id="4" name="Text 2"/>
          <p:cNvSpPr/>
          <p:nvPr/>
        </p:nvSpPr>
        <p:spPr>
          <a:xfrm>
            <a:off x="792361" y="1005959"/>
            <a:ext cx="6302812" cy="577334"/>
          </a:xfrm>
          <a:prstGeom prst="rect">
            <a:avLst/>
          </a:prstGeom>
          <a:noFill/>
          <a:ln/>
        </p:spPr>
        <p:txBody>
          <a:bodyPr wrap="none" lIns="0" tIns="0" rIns="0" bIns="0" rtlCol="0" anchor="t"/>
          <a:lstStyle/>
          <a:p>
            <a:pPr marL="0" indent="0" algn="l">
              <a:lnSpc>
                <a:spcPts val="4500"/>
              </a:lnSpc>
              <a:buNone/>
            </a:pPr>
            <a:r>
              <a:rPr lang="en-US" sz="3750" dirty="0">
                <a:solidFill>
                  <a:srgbClr val="171717"/>
                </a:solidFill>
                <a:latin typeface="Space Grotesk Medium" pitchFamily="34" charset="0"/>
                <a:ea typeface="Space Grotesk Medium" pitchFamily="34" charset="-122"/>
                <a:cs typeface="Space Grotesk Medium" pitchFamily="34" charset="-120"/>
              </a:rPr>
              <a:t>Conclusion et Perspectives</a:t>
            </a:r>
            <a:endParaRPr lang="en-US" sz="3750" dirty="0"/>
          </a:p>
        </p:txBody>
      </p:sp>
      <p:pic>
        <p:nvPicPr>
          <p:cNvPr id="5" name="Image 0" descr="preencoded.png"/>
          <p:cNvPicPr>
            <a:picLocks noChangeAspect="1"/>
          </p:cNvPicPr>
          <p:nvPr/>
        </p:nvPicPr>
        <p:blipFill>
          <a:blip r:embed="rId3"/>
          <a:stretch>
            <a:fillRect/>
          </a:stretch>
        </p:blipFill>
        <p:spPr>
          <a:xfrm>
            <a:off x="792361" y="1828205"/>
            <a:ext cx="4348520" cy="769739"/>
          </a:xfrm>
          <a:prstGeom prst="rect">
            <a:avLst/>
          </a:prstGeom>
        </p:spPr>
      </p:pic>
      <p:sp>
        <p:nvSpPr>
          <p:cNvPr id="6" name="Text 3"/>
          <p:cNvSpPr/>
          <p:nvPr/>
        </p:nvSpPr>
        <p:spPr>
          <a:xfrm>
            <a:off x="984766" y="2761178"/>
            <a:ext cx="2405539" cy="288608"/>
          </a:xfrm>
          <a:prstGeom prst="rect">
            <a:avLst/>
          </a:prstGeom>
          <a:noFill/>
          <a:ln/>
        </p:spPr>
        <p:txBody>
          <a:bodyPr wrap="none" lIns="0" tIns="0" rIns="0" bIns="0" rtlCol="0" anchor="t"/>
          <a:lstStyle/>
          <a:p>
            <a:pPr marL="0" indent="0" algn="l">
              <a:lnSpc>
                <a:spcPts val="2250"/>
              </a:lnSpc>
              <a:buNone/>
            </a:pPr>
            <a:r>
              <a:rPr lang="en-US" sz="1850" dirty="0">
                <a:solidFill>
                  <a:srgbClr val="2A2A2A"/>
                </a:solidFill>
                <a:latin typeface="Space Grotesk Medium" pitchFamily="34" charset="0"/>
                <a:ea typeface="Space Grotesk Medium" pitchFamily="34" charset="-122"/>
                <a:cs typeface="Space Grotesk Medium" pitchFamily="34" charset="-120"/>
              </a:rPr>
              <a:t>Modèles Avancés</a:t>
            </a:r>
            <a:endParaRPr lang="en-US" sz="1850" dirty="0"/>
          </a:p>
        </p:txBody>
      </p:sp>
      <p:sp>
        <p:nvSpPr>
          <p:cNvPr id="7" name="Text 4"/>
          <p:cNvSpPr/>
          <p:nvPr/>
        </p:nvSpPr>
        <p:spPr>
          <a:xfrm>
            <a:off x="984766" y="3147655"/>
            <a:ext cx="3963710" cy="398383"/>
          </a:xfrm>
          <a:prstGeom prst="rect">
            <a:avLst/>
          </a:prstGeom>
          <a:noFill/>
          <a:ln/>
        </p:spPr>
        <p:txBody>
          <a:bodyPr wrap="squar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Tester des algorithmes plus puissants : </a:t>
            </a:r>
            <a:r>
              <a:rPr lang="en-US" sz="1200" b="1" dirty="0">
                <a:solidFill>
                  <a:srgbClr val="2A2A2A"/>
                </a:solidFill>
                <a:latin typeface="DM Sans" pitchFamily="34" charset="0"/>
                <a:ea typeface="DM Sans" pitchFamily="34" charset="-122"/>
                <a:cs typeface="DM Sans" pitchFamily="34" charset="-120"/>
              </a:rPr>
              <a:t>Random Forest</a:t>
            </a:r>
            <a:r>
              <a:rPr lang="en-US" sz="1200" dirty="0">
                <a:solidFill>
                  <a:srgbClr val="2A2A2A"/>
                </a:solidFill>
                <a:latin typeface="DM Sans" pitchFamily="34" charset="0"/>
                <a:ea typeface="DM Sans" pitchFamily="34" charset="-122"/>
                <a:cs typeface="DM Sans" pitchFamily="34" charset="-120"/>
              </a:rPr>
              <a:t>, Gradient Boosting, XGBoost</a:t>
            </a:r>
            <a:endParaRPr lang="en-US" sz="1200" dirty="0"/>
          </a:p>
        </p:txBody>
      </p:sp>
      <p:pic>
        <p:nvPicPr>
          <p:cNvPr id="8" name="Image 1" descr="preencoded.png"/>
          <p:cNvPicPr>
            <a:picLocks noChangeAspect="1"/>
          </p:cNvPicPr>
          <p:nvPr/>
        </p:nvPicPr>
        <p:blipFill>
          <a:blip r:embed="rId4"/>
          <a:stretch>
            <a:fillRect/>
          </a:stretch>
        </p:blipFill>
        <p:spPr>
          <a:xfrm>
            <a:off x="5140881" y="1828205"/>
            <a:ext cx="4348520" cy="769739"/>
          </a:xfrm>
          <a:prstGeom prst="rect">
            <a:avLst/>
          </a:prstGeom>
        </p:spPr>
      </p:pic>
      <p:sp>
        <p:nvSpPr>
          <p:cNvPr id="9" name="Text 5"/>
          <p:cNvSpPr/>
          <p:nvPr/>
        </p:nvSpPr>
        <p:spPr>
          <a:xfrm>
            <a:off x="5333286" y="2761178"/>
            <a:ext cx="2405539" cy="288608"/>
          </a:xfrm>
          <a:prstGeom prst="rect">
            <a:avLst/>
          </a:prstGeom>
          <a:noFill/>
          <a:ln/>
        </p:spPr>
        <p:txBody>
          <a:bodyPr wrap="none" lIns="0" tIns="0" rIns="0" bIns="0" rtlCol="0" anchor="t"/>
          <a:lstStyle/>
          <a:p>
            <a:pPr marL="0" indent="0" algn="l">
              <a:lnSpc>
                <a:spcPts val="2250"/>
              </a:lnSpc>
              <a:buNone/>
            </a:pPr>
            <a:r>
              <a:rPr lang="en-US" sz="1850" dirty="0">
                <a:solidFill>
                  <a:srgbClr val="2A2A2A"/>
                </a:solidFill>
                <a:latin typeface="Space Grotesk Medium" pitchFamily="34" charset="0"/>
                <a:ea typeface="Space Grotesk Medium" pitchFamily="34" charset="-122"/>
                <a:cs typeface="Space Grotesk Medium" pitchFamily="34" charset="-120"/>
              </a:rPr>
              <a:t>Enrichissement</a:t>
            </a:r>
            <a:endParaRPr lang="en-US" sz="1850" dirty="0"/>
          </a:p>
        </p:txBody>
      </p:sp>
      <p:sp>
        <p:nvSpPr>
          <p:cNvPr id="10" name="Text 6"/>
          <p:cNvSpPr/>
          <p:nvPr/>
        </p:nvSpPr>
        <p:spPr>
          <a:xfrm>
            <a:off x="5333286" y="3147655"/>
            <a:ext cx="3963710" cy="398383"/>
          </a:xfrm>
          <a:prstGeom prst="rect">
            <a:avLst/>
          </a:prstGeom>
          <a:noFill/>
          <a:ln/>
        </p:spPr>
        <p:txBody>
          <a:bodyPr wrap="squar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Intégrer de nouvelles sources de données (comportement transactionnel, données alternatives)</a:t>
            </a:r>
            <a:endParaRPr lang="en-US" sz="1200" dirty="0"/>
          </a:p>
        </p:txBody>
      </p:sp>
      <p:pic>
        <p:nvPicPr>
          <p:cNvPr id="11" name="Image 2" descr="preencoded.png"/>
          <p:cNvPicPr>
            <a:picLocks noChangeAspect="1"/>
          </p:cNvPicPr>
          <p:nvPr/>
        </p:nvPicPr>
        <p:blipFill>
          <a:blip r:embed="rId5"/>
          <a:stretch>
            <a:fillRect/>
          </a:stretch>
        </p:blipFill>
        <p:spPr>
          <a:xfrm>
            <a:off x="9489400" y="1828205"/>
            <a:ext cx="4348520" cy="769739"/>
          </a:xfrm>
          <a:prstGeom prst="rect">
            <a:avLst/>
          </a:prstGeom>
        </p:spPr>
      </p:pic>
      <p:sp>
        <p:nvSpPr>
          <p:cNvPr id="12" name="Text 7"/>
          <p:cNvSpPr/>
          <p:nvPr/>
        </p:nvSpPr>
        <p:spPr>
          <a:xfrm>
            <a:off x="9681805" y="2761178"/>
            <a:ext cx="2405539" cy="288608"/>
          </a:xfrm>
          <a:prstGeom prst="rect">
            <a:avLst/>
          </a:prstGeom>
          <a:noFill/>
          <a:ln/>
        </p:spPr>
        <p:txBody>
          <a:bodyPr wrap="none" lIns="0" tIns="0" rIns="0" bIns="0" rtlCol="0" anchor="t"/>
          <a:lstStyle/>
          <a:p>
            <a:pPr marL="0" indent="0" algn="l">
              <a:lnSpc>
                <a:spcPts val="2250"/>
              </a:lnSpc>
              <a:buNone/>
            </a:pPr>
            <a:r>
              <a:rPr lang="en-US" sz="1850" dirty="0">
                <a:solidFill>
                  <a:srgbClr val="2A2A2A"/>
                </a:solidFill>
                <a:latin typeface="Space Grotesk Medium" pitchFamily="34" charset="0"/>
                <a:ea typeface="Space Grotesk Medium" pitchFamily="34" charset="-122"/>
                <a:cs typeface="Space Grotesk Medium" pitchFamily="34" charset="-120"/>
              </a:rPr>
              <a:t>Production</a:t>
            </a:r>
            <a:endParaRPr lang="en-US" sz="1850" dirty="0"/>
          </a:p>
        </p:txBody>
      </p:sp>
      <p:sp>
        <p:nvSpPr>
          <p:cNvPr id="13" name="Text 8"/>
          <p:cNvSpPr/>
          <p:nvPr/>
        </p:nvSpPr>
        <p:spPr>
          <a:xfrm>
            <a:off x="9681805" y="3147655"/>
            <a:ext cx="3963710" cy="398383"/>
          </a:xfrm>
          <a:prstGeom prst="rect">
            <a:avLst/>
          </a:prstGeom>
          <a:noFill/>
          <a:ln/>
        </p:spPr>
        <p:txBody>
          <a:bodyPr wrap="square" lIns="0" tIns="0" rIns="0" bIns="0" rtlCol="0" anchor="t"/>
          <a:lstStyle/>
          <a:p>
            <a:pPr marL="0" indent="0" algn="l">
              <a:lnSpc>
                <a:spcPts val="1550"/>
              </a:lnSpc>
              <a:buNone/>
            </a:pPr>
            <a:r>
              <a:rPr lang="en-US" sz="1200" dirty="0">
                <a:solidFill>
                  <a:srgbClr val="2A2A2A"/>
                </a:solidFill>
                <a:latin typeface="DM Sans" pitchFamily="34" charset="0"/>
                <a:ea typeface="DM Sans" pitchFamily="34" charset="-122"/>
                <a:cs typeface="DM Sans" pitchFamily="34" charset="-120"/>
              </a:rPr>
              <a:t>Déployer le modèle via une API REST et l'intégrer au système d'information bancaire</a:t>
            </a:r>
            <a:endParaRPr lang="en-US" sz="1200" dirty="0"/>
          </a:p>
        </p:txBody>
      </p:sp>
      <p:sp>
        <p:nvSpPr>
          <p:cNvPr id="14" name="Text 9"/>
          <p:cNvSpPr/>
          <p:nvPr/>
        </p:nvSpPr>
        <p:spPr>
          <a:xfrm>
            <a:off x="792361" y="4085273"/>
            <a:ext cx="2405539" cy="288608"/>
          </a:xfrm>
          <a:prstGeom prst="rect">
            <a:avLst/>
          </a:prstGeom>
          <a:noFill/>
          <a:ln/>
        </p:spPr>
        <p:txBody>
          <a:bodyPr wrap="none" lIns="0" tIns="0" rIns="0" bIns="0" rtlCol="0" anchor="t"/>
          <a:lstStyle/>
          <a:p>
            <a:pPr marL="0" indent="0" algn="l">
              <a:lnSpc>
                <a:spcPts val="2250"/>
              </a:lnSpc>
              <a:buNone/>
            </a:pPr>
            <a:r>
              <a:rPr lang="en-US" sz="1850" dirty="0">
                <a:solidFill>
                  <a:srgbClr val="171717"/>
                </a:solidFill>
                <a:latin typeface="Space Grotesk Medium" pitchFamily="34" charset="0"/>
                <a:ea typeface="Space Grotesk Medium" pitchFamily="34" charset="-122"/>
                <a:cs typeface="Space Grotesk Medium" pitchFamily="34" charset="-120"/>
              </a:rPr>
              <a:t>Bilan du Projet</a:t>
            </a:r>
            <a:endParaRPr lang="en-US" sz="1850" dirty="0"/>
          </a:p>
        </p:txBody>
      </p:sp>
      <p:sp>
        <p:nvSpPr>
          <p:cNvPr id="15" name="Shape 10"/>
          <p:cNvSpPr/>
          <p:nvPr/>
        </p:nvSpPr>
        <p:spPr>
          <a:xfrm>
            <a:off x="792361" y="4557474"/>
            <a:ext cx="8991124" cy="928211"/>
          </a:xfrm>
          <a:prstGeom prst="roundRect">
            <a:avLst>
              <a:gd name="adj" fmla="val 11821"/>
            </a:avLst>
          </a:prstGeom>
          <a:solidFill>
            <a:srgbClr val="FFFFFF"/>
          </a:solidFill>
          <a:ln w="22860">
            <a:solidFill>
              <a:srgbClr val="171717"/>
            </a:solidFill>
            <a:prstDash val="solid"/>
          </a:ln>
        </p:spPr>
      </p:sp>
      <p:sp>
        <p:nvSpPr>
          <p:cNvPr id="16" name="Shape 11"/>
          <p:cNvSpPr/>
          <p:nvPr/>
        </p:nvSpPr>
        <p:spPr>
          <a:xfrm>
            <a:off x="769501" y="4557474"/>
            <a:ext cx="91440" cy="928211"/>
          </a:xfrm>
          <a:prstGeom prst="roundRect">
            <a:avLst>
              <a:gd name="adj" fmla="val 31569"/>
            </a:avLst>
          </a:prstGeom>
          <a:solidFill>
            <a:srgbClr val="171717"/>
          </a:solidFill>
          <a:ln/>
        </p:spPr>
      </p:sp>
      <p:sp>
        <p:nvSpPr>
          <p:cNvPr id="17" name="Text 12"/>
          <p:cNvSpPr/>
          <p:nvPr/>
        </p:nvSpPr>
        <p:spPr>
          <a:xfrm>
            <a:off x="1076206" y="4772739"/>
            <a:ext cx="8492014" cy="497681"/>
          </a:xfrm>
          <a:prstGeom prst="rect">
            <a:avLst/>
          </a:prstGeom>
          <a:noFill/>
          <a:ln/>
        </p:spPr>
        <p:txBody>
          <a:bodyPr wrap="square" lIns="0" tIns="0" rIns="0" bIns="0" rtlCol="0" anchor="t"/>
          <a:lstStyle/>
          <a:p>
            <a:pPr marL="0" indent="0" algn="l">
              <a:lnSpc>
                <a:spcPts val="1950"/>
              </a:lnSpc>
              <a:buNone/>
            </a:pPr>
            <a:r>
              <a:rPr lang="en-US" sz="1500" dirty="0">
                <a:solidFill>
                  <a:srgbClr val="2A2A2A"/>
                </a:solidFill>
                <a:latin typeface="DM Sans" pitchFamily="34" charset="0"/>
                <a:ea typeface="DM Sans" pitchFamily="34" charset="-122"/>
                <a:cs typeface="DM Sans" pitchFamily="34" charset="-120"/>
              </a:rPr>
              <a:t>Modèle de scoring fonctionnel basé sur la Régression Logistique appliquée au dataset German Credit</a:t>
            </a:r>
            <a:endParaRPr lang="en-US" sz="1500" dirty="0"/>
          </a:p>
        </p:txBody>
      </p:sp>
      <p:sp>
        <p:nvSpPr>
          <p:cNvPr id="18" name="Shape 13"/>
          <p:cNvSpPr/>
          <p:nvPr/>
        </p:nvSpPr>
        <p:spPr>
          <a:xfrm>
            <a:off x="792361" y="5648920"/>
            <a:ext cx="8991124" cy="928211"/>
          </a:xfrm>
          <a:prstGeom prst="roundRect">
            <a:avLst>
              <a:gd name="adj" fmla="val 11821"/>
            </a:avLst>
          </a:prstGeom>
          <a:solidFill>
            <a:srgbClr val="FFFFFF"/>
          </a:solidFill>
          <a:ln w="22860">
            <a:solidFill>
              <a:srgbClr val="4A5F73"/>
            </a:solidFill>
            <a:prstDash val="solid"/>
          </a:ln>
        </p:spPr>
      </p:sp>
      <p:sp>
        <p:nvSpPr>
          <p:cNvPr id="19" name="Shape 14"/>
          <p:cNvSpPr/>
          <p:nvPr/>
        </p:nvSpPr>
        <p:spPr>
          <a:xfrm>
            <a:off x="769501" y="5648920"/>
            <a:ext cx="91440" cy="928211"/>
          </a:xfrm>
          <a:prstGeom prst="roundRect">
            <a:avLst>
              <a:gd name="adj" fmla="val 31569"/>
            </a:avLst>
          </a:prstGeom>
          <a:solidFill>
            <a:srgbClr val="4A5F73"/>
          </a:solidFill>
          <a:ln/>
        </p:spPr>
      </p:sp>
      <p:sp>
        <p:nvSpPr>
          <p:cNvPr id="20" name="Text 15"/>
          <p:cNvSpPr/>
          <p:nvPr/>
        </p:nvSpPr>
        <p:spPr>
          <a:xfrm>
            <a:off x="1076206" y="5864185"/>
            <a:ext cx="8492014" cy="497681"/>
          </a:xfrm>
          <a:prstGeom prst="rect">
            <a:avLst/>
          </a:prstGeom>
          <a:noFill/>
          <a:ln/>
        </p:spPr>
        <p:txBody>
          <a:bodyPr wrap="square" lIns="0" tIns="0" rIns="0" bIns="0" rtlCol="0" anchor="t"/>
          <a:lstStyle/>
          <a:p>
            <a:pPr marL="0" indent="0" algn="l">
              <a:lnSpc>
                <a:spcPts val="1950"/>
              </a:lnSpc>
              <a:buNone/>
            </a:pPr>
            <a:r>
              <a:rPr lang="en-US" sz="1500" dirty="0">
                <a:solidFill>
                  <a:srgbClr val="2A2A2A"/>
                </a:solidFill>
                <a:latin typeface="DM Sans" pitchFamily="34" charset="0"/>
                <a:ea typeface="DM Sans" pitchFamily="34" charset="-122"/>
                <a:cs typeface="DM Sans" pitchFamily="34" charset="-120"/>
              </a:rPr>
              <a:t>Optimisation du seuil de décision permettant d'adapter la stratégie de risque aux objectifs métier</a:t>
            </a:r>
            <a:endParaRPr lang="en-US" sz="1500" dirty="0"/>
          </a:p>
        </p:txBody>
      </p:sp>
      <p:sp>
        <p:nvSpPr>
          <p:cNvPr id="21" name="Shape 16"/>
          <p:cNvSpPr/>
          <p:nvPr/>
        </p:nvSpPr>
        <p:spPr>
          <a:xfrm>
            <a:off x="792361" y="6740366"/>
            <a:ext cx="8991124" cy="679371"/>
          </a:xfrm>
          <a:prstGeom prst="roundRect">
            <a:avLst>
              <a:gd name="adj" fmla="val 16151"/>
            </a:avLst>
          </a:prstGeom>
          <a:solidFill>
            <a:srgbClr val="FFFFFF"/>
          </a:solidFill>
          <a:ln w="22860">
            <a:solidFill>
              <a:srgbClr val="2A2A2A"/>
            </a:solidFill>
            <a:prstDash val="solid"/>
          </a:ln>
        </p:spPr>
      </p:sp>
      <p:sp>
        <p:nvSpPr>
          <p:cNvPr id="22" name="Shape 17"/>
          <p:cNvSpPr/>
          <p:nvPr/>
        </p:nvSpPr>
        <p:spPr>
          <a:xfrm>
            <a:off x="769501" y="6740366"/>
            <a:ext cx="91440" cy="679371"/>
          </a:xfrm>
          <a:prstGeom prst="roundRect">
            <a:avLst>
              <a:gd name="adj" fmla="val 31569"/>
            </a:avLst>
          </a:prstGeom>
          <a:solidFill>
            <a:srgbClr val="2A2A2A"/>
          </a:solidFill>
          <a:ln/>
        </p:spPr>
      </p:sp>
      <p:sp>
        <p:nvSpPr>
          <p:cNvPr id="23" name="Text 18"/>
          <p:cNvSpPr/>
          <p:nvPr/>
        </p:nvSpPr>
        <p:spPr>
          <a:xfrm>
            <a:off x="1076206" y="6955631"/>
            <a:ext cx="8492014" cy="248841"/>
          </a:xfrm>
          <a:prstGeom prst="rect">
            <a:avLst/>
          </a:prstGeom>
          <a:noFill/>
          <a:ln/>
        </p:spPr>
        <p:txBody>
          <a:bodyPr wrap="none" lIns="0" tIns="0" rIns="0" bIns="0" rtlCol="0" anchor="t"/>
          <a:lstStyle/>
          <a:p>
            <a:pPr marL="0" indent="0" algn="l">
              <a:lnSpc>
                <a:spcPts val="1950"/>
              </a:lnSpc>
              <a:buNone/>
            </a:pPr>
            <a:r>
              <a:rPr lang="en-US" sz="1500" dirty="0">
                <a:solidFill>
                  <a:srgbClr val="2A2A2A"/>
                </a:solidFill>
                <a:latin typeface="DM Sans" pitchFamily="34" charset="0"/>
                <a:ea typeface="DM Sans" pitchFamily="34" charset="-122"/>
                <a:cs typeface="DM Sans" pitchFamily="34" charset="-120"/>
              </a:rPr>
              <a:t>Application Streamlit interactive prête à l'emploi pour les équipes bancaires opérationnelles</a:t>
            </a:r>
            <a:endParaRPr lang="en-US" sz="1500" dirty="0"/>
          </a:p>
        </p:txBody>
      </p:sp>
      <p:sp>
        <p:nvSpPr>
          <p:cNvPr id="24" name="Text 19"/>
          <p:cNvSpPr/>
          <p:nvPr/>
        </p:nvSpPr>
        <p:spPr>
          <a:xfrm>
            <a:off x="10260449" y="4085273"/>
            <a:ext cx="3585091" cy="796647"/>
          </a:xfrm>
          <a:prstGeom prst="rect">
            <a:avLst/>
          </a:prstGeom>
          <a:noFill/>
          <a:ln/>
        </p:spPr>
        <p:txBody>
          <a:bodyPr wrap="none" lIns="0" tIns="0" rIns="0" bIns="0" rtlCol="0" anchor="t"/>
          <a:lstStyle/>
          <a:p>
            <a:pPr marL="0" indent="0" algn="l">
              <a:lnSpc>
                <a:spcPts val="6250"/>
              </a:lnSpc>
              <a:buNone/>
            </a:pPr>
            <a:r>
              <a:rPr lang="en-US" sz="5200" dirty="0">
                <a:solidFill>
                  <a:srgbClr val="171717"/>
                </a:solidFill>
                <a:latin typeface="Space Grotesk Medium" pitchFamily="34" charset="0"/>
                <a:ea typeface="Space Grotesk Medium" pitchFamily="34" charset="-122"/>
                <a:cs typeface="Space Grotesk Medium" pitchFamily="34" charset="-120"/>
              </a:rPr>
              <a:t>Merci</a:t>
            </a:r>
            <a:endParaRPr lang="en-US" sz="5200" dirty="0"/>
          </a:p>
        </p:txBody>
      </p:sp>
      <p:sp>
        <p:nvSpPr>
          <p:cNvPr id="25" name="Text 20"/>
          <p:cNvSpPr/>
          <p:nvPr/>
        </p:nvSpPr>
        <p:spPr>
          <a:xfrm>
            <a:off x="10260449" y="5045154"/>
            <a:ext cx="3585091" cy="248841"/>
          </a:xfrm>
          <a:prstGeom prst="rect">
            <a:avLst/>
          </a:prstGeom>
          <a:noFill/>
          <a:ln/>
        </p:spPr>
        <p:txBody>
          <a:bodyPr wrap="none" lIns="0" tIns="0" rIns="0" bIns="0" rtlCol="0" anchor="t"/>
          <a:lstStyle/>
          <a:p>
            <a:pPr marL="0" indent="0" algn="l">
              <a:lnSpc>
                <a:spcPts val="1950"/>
              </a:lnSpc>
              <a:buNone/>
            </a:pPr>
            <a:endParaRPr lang="en-US" sz="1500" dirty="0"/>
          </a:p>
        </p:txBody>
      </p:sp>
      <p:pic>
        <p:nvPicPr>
          <p:cNvPr id="9218" name="Picture 2" descr="Surface blanche à rayures rondes Couverture souple blanche | Vecteur Premium">
            <a:extLst>
              <a:ext uri="{FF2B5EF4-FFF2-40B4-BE49-F238E27FC236}">
                <a16:creationId xmlns:a16="http://schemas.microsoft.com/office/drawing/2014/main" id="{2D44B14E-1587-CDAD-8497-385F2F7DBF5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66828" y="7635002"/>
            <a:ext cx="5962650" cy="47946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TotalTime>
  <Words>1003</Words>
  <Application>Microsoft Office PowerPoint</Application>
  <PresentationFormat>Custom</PresentationFormat>
  <Paragraphs>140</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DM Sans</vt:lpstr>
      <vt:lpstr>Space Grotesk Light</vt:lpstr>
      <vt:lpstr>Space Grotesk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yasser belhati</cp:lastModifiedBy>
  <cp:revision>1</cp:revision>
  <dcterms:created xsi:type="dcterms:W3CDTF">2026-03-14T02:56:56Z</dcterms:created>
  <dcterms:modified xsi:type="dcterms:W3CDTF">2026-03-14T05:07:37Z</dcterms:modified>
</cp:coreProperties>
</file>